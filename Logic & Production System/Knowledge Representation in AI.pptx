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3" r:id="rId9"/>
    <p:sldId id="263" r:id="rId10"/>
    <p:sldId id="264" r:id="rId11"/>
    <p:sldId id="283" r:id="rId12"/>
    <p:sldId id="282" r:id="rId13"/>
    <p:sldId id="265" r:id="rId14"/>
    <p:sldId id="266" r:id="rId15"/>
    <p:sldId id="267" r:id="rId16"/>
    <p:sldId id="270" r:id="rId17"/>
    <p:sldId id="271" r:id="rId18"/>
    <p:sldId id="268" r:id="rId19"/>
    <p:sldId id="269" r:id="rId20"/>
    <p:sldId id="272" r:id="rId21"/>
    <p:sldId id="274" r:id="rId22"/>
    <p:sldId id="275" r:id="rId23"/>
    <p:sldId id="276" r:id="rId24"/>
    <p:sldId id="277" r:id="rId25"/>
    <p:sldId id="278" r:id="rId26"/>
    <p:sldId id="296" r:id="rId27"/>
    <p:sldId id="297" r:id="rId28"/>
    <p:sldId id="298" r:id="rId29"/>
    <p:sldId id="299" r:id="rId30"/>
    <p:sldId id="279" r:id="rId31"/>
    <p:sldId id="280" r:id="rId32"/>
    <p:sldId id="281" r:id="rId33"/>
    <p:sldId id="284" r:id="rId34"/>
    <p:sldId id="286" r:id="rId35"/>
    <p:sldId id="287" r:id="rId36"/>
    <p:sldId id="295" r:id="rId37"/>
    <p:sldId id="285" r:id="rId38"/>
    <p:sldId id="288" r:id="rId39"/>
    <p:sldId id="290" r:id="rId40"/>
    <p:sldId id="291" r:id="rId41"/>
    <p:sldId id="289" r:id="rId42"/>
    <p:sldId id="292" r:id="rId43"/>
    <p:sldId id="293" r:id="rId44"/>
    <p:sldId id="294"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8" autoAdjust="0"/>
    <p:restoredTop sz="94660"/>
  </p:normalViewPr>
  <p:slideViewPr>
    <p:cSldViewPr snapToGrid="0">
      <p:cViewPr varScale="1">
        <p:scale>
          <a:sx n="105" d="100"/>
          <a:sy n="105" d="100"/>
        </p:scale>
        <p:origin x="6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3FBC3CB-8000-48B9-A37E-E0B674EBCB4C}" type="doc">
      <dgm:prSet loTypeId="urn:microsoft.com/office/officeart/2008/layout/RadialCluster" loCatId="cycle" qsTypeId="urn:microsoft.com/office/officeart/2005/8/quickstyle/simple1" qsCatId="simple" csTypeId="urn:microsoft.com/office/officeart/2005/8/colors/accent1_2" csCatId="accent1" phldr="1"/>
      <dgm:spPr/>
      <dgm:t>
        <a:bodyPr/>
        <a:lstStyle/>
        <a:p>
          <a:endParaRPr lang="en-US"/>
        </a:p>
      </dgm:t>
    </dgm:pt>
    <dgm:pt modelId="{49E2F581-9107-4425-8110-5B6ACBF8023E}">
      <dgm:prSet phldrT="[Text]"/>
      <dgm:spPr/>
      <dgm:t>
        <a:bodyPr/>
        <a:lstStyle/>
        <a:p>
          <a:r>
            <a:rPr lang="en-US" dirty="0"/>
            <a:t>Rule Engine (if-&gt;then)</a:t>
          </a:r>
        </a:p>
        <a:p>
          <a:r>
            <a:rPr lang="en-US" dirty="0"/>
            <a:t>IF weekday AND time &gt; 4PM AND not gaming </a:t>
          </a:r>
        </a:p>
        <a:p>
          <a:r>
            <a:rPr lang="en-US" dirty="0"/>
            <a:t>THEN: Remind to study </a:t>
          </a:r>
        </a:p>
      </dgm:t>
    </dgm:pt>
    <dgm:pt modelId="{87C36B34-41BB-46B5-B5FB-9766F6A9D6A8}" type="parTrans" cxnId="{CE10C1C4-7949-4D49-8289-23CA8743ADBE}">
      <dgm:prSet/>
      <dgm:spPr/>
      <dgm:t>
        <a:bodyPr/>
        <a:lstStyle/>
        <a:p>
          <a:endParaRPr lang="en-US"/>
        </a:p>
      </dgm:t>
    </dgm:pt>
    <dgm:pt modelId="{F7E183D9-69C9-4AB6-B977-F65C39B84937}" type="sibTrans" cxnId="{CE10C1C4-7949-4D49-8289-23CA8743ADBE}">
      <dgm:prSet/>
      <dgm:spPr/>
      <dgm:t>
        <a:bodyPr/>
        <a:lstStyle/>
        <a:p>
          <a:endParaRPr lang="en-US"/>
        </a:p>
      </dgm:t>
    </dgm:pt>
    <dgm:pt modelId="{25D18341-5A6E-442E-83BB-730F62D98510}">
      <dgm:prSet phldrT="[Text]"/>
      <dgm:spPr/>
      <dgm:t>
        <a:bodyPr/>
        <a:lstStyle/>
        <a:p>
          <a:r>
            <a:rPr lang="en-US" dirty="0"/>
            <a:t>Fact 2</a:t>
          </a:r>
        </a:p>
        <a:p>
          <a:r>
            <a:rPr lang="en-US" dirty="0"/>
            <a:t>Time = 5PM</a:t>
          </a:r>
        </a:p>
      </dgm:t>
    </dgm:pt>
    <dgm:pt modelId="{32469C76-3F67-424C-8567-A52DF43C0199}" type="parTrans" cxnId="{A9E6310E-F556-4504-B405-C7CBC2B38A7D}">
      <dgm:prSet/>
      <dgm:spPr/>
      <dgm:t>
        <a:bodyPr/>
        <a:lstStyle/>
        <a:p>
          <a:endParaRPr lang="en-US"/>
        </a:p>
      </dgm:t>
    </dgm:pt>
    <dgm:pt modelId="{FA4F10A7-063D-424F-9F32-79F8F05A0990}" type="sibTrans" cxnId="{A9E6310E-F556-4504-B405-C7CBC2B38A7D}">
      <dgm:prSet/>
      <dgm:spPr/>
      <dgm:t>
        <a:bodyPr/>
        <a:lstStyle/>
        <a:p>
          <a:endParaRPr lang="en-US"/>
        </a:p>
      </dgm:t>
    </dgm:pt>
    <dgm:pt modelId="{1D20980D-2ADF-418E-827B-41EA0F7DF4B7}">
      <dgm:prSet phldrT="[Text]"/>
      <dgm:spPr/>
      <dgm:t>
        <a:bodyPr/>
        <a:lstStyle/>
        <a:p>
          <a:r>
            <a:rPr lang="en-US" dirty="0"/>
            <a:t>Fact 3</a:t>
          </a:r>
        </a:p>
        <a:p>
          <a:r>
            <a:rPr lang="en-US" dirty="0"/>
            <a:t>Not Playing games</a:t>
          </a:r>
        </a:p>
      </dgm:t>
    </dgm:pt>
    <dgm:pt modelId="{B041B51D-E404-40BA-A544-983A4129B728}" type="parTrans" cxnId="{EEF42B03-8B90-4BB3-83CD-2B97A1493FC9}">
      <dgm:prSet/>
      <dgm:spPr/>
      <dgm:t>
        <a:bodyPr/>
        <a:lstStyle/>
        <a:p>
          <a:endParaRPr lang="en-US"/>
        </a:p>
      </dgm:t>
    </dgm:pt>
    <dgm:pt modelId="{A65DB0B1-AE22-4D38-9D34-8E113CAAFFFE}" type="sibTrans" cxnId="{EEF42B03-8B90-4BB3-83CD-2B97A1493FC9}">
      <dgm:prSet/>
      <dgm:spPr/>
      <dgm:t>
        <a:bodyPr/>
        <a:lstStyle/>
        <a:p>
          <a:endParaRPr lang="en-US"/>
        </a:p>
      </dgm:t>
    </dgm:pt>
    <dgm:pt modelId="{20BDA9FB-7457-4EB8-B1AB-CEE13DC98A24}">
      <dgm:prSet phldrT="[Text]"/>
      <dgm:spPr/>
      <dgm:t>
        <a:bodyPr/>
        <a:lstStyle/>
        <a:p>
          <a:r>
            <a:rPr lang="en-US" dirty="0"/>
            <a:t>Output / Action: </a:t>
          </a:r>
        </a:p>
        <a:p>
          <a:r>
            <a:rPr lang="en-US" dirty="0"/>
            <a:t> "Hey Yasir! It's time</a:t>
          </a:r>
        </a:p>
        <a:p>
          <a:r>
            <a:rPr lang="en-US" dirty="0"/>
            <a:t> to study 📚" </a:t>
          </a:r>
        </a:p>
      </dgm:t>
    </dgm:pt>
    <dgm:pt modelId="{8A31EEC2-1FDC-4293-9437-6421B0A94DE5}" type="parTrans" cxnId="{52880E99-FC17-4707-B919-2A13ADA9AAC0}">
      <dgm:prSet/>
      <dgm:spPr/>
      <dgm:t>
        <a:bodyPr/>
        <a:lstStyle/>
        <a:p>
          <a:endParaRPr lang="en-US"/>
        </a:p>
      </dgm:t>
    </dgm:pt>
    <dgm:pt modelId="{E00257B7-6DD4-4743-88B1-8AFED9FD6AEB}" type="sibTrans" cxnId="{52880E99-FC17-4707-B919-2A13ADA9AAC0}">
      <dgm:prSet/>
      <dgm:spPr/>
      <dgm:t>
        <a:bodyPr/>
        <a:lstStyle/>
        <a:p>
          <a:endParaRPr lang="en-US"/>
        </a:p>
      </dgm:t>
    </dgm:pt>
    <dgm:pt modelId="{8474B7D6-CE18-4B2A-A395-64B151214B99}">
      <dgm:prSet/>
      <dgm:spPr/>
      <dgm:t>
        <a:bodyPr/>
        <a:lstStyle/>
        <a:p>
          <a:r>
            <a:rPr lang="en-US" dirty="0"/>
            <a:t>Fact 1</a:t>
          </a:r>
        </a:p>
        <a:p>
          <a:r>
            <a:rPr lang="en-US" dirty="0"/>
            <a:t>Today=Monday</a:t>
          </a:r>
        </a:p>
      </dgm:t>
    </dgm:pt>
    <dgm:pt modelId="{A0374710-14B9-43CA-943A-FBC9AC4B6AC3}" type="parTrans" cxnId="{A6328DF5-734E-42DF-9CF1-3EECD299B3C3}">
      <dgm:prSet/>
      <dgm:spPr/>
      <dgm:t>
        <a:bodyPr/>
        <a:lstStyle/>
        <a:p>
          <a:endParaRPr lang="en-US"/>
        </a:p>
      </dgm:t>
    </dgm:pt>
    <dgm:pt modelId="{67A824E8-C8D0-4AF0-AAB5-EB9EEF142DFA}" type="sibTrans" cxnId="{A6328DF5-734E-42DF-9CF1-3EECD299B3C3}">
      <dgm:prSet/>
      <dgm:spPr/>
      <dgm:t>
        <a:bodyPr/>
        <a:lstStyle/>
        <a:p>
          <a:endParaRPr lang="en-US"/>
        </a:p>
      </dgm:t>
    </dgm:pt>
    <dgm:pt modelId="{E590166D-A115-4ACF-AA4F-BBB1111B19FE}" type="pres">
      <dgm:prSet presAssocID="{43FBC3CB-8000-48B9-A37E-E0B674EBCB4C}" presName="Name0" presStyleCnt="0">
        <dgm:presLayoutVars>
          <dgm:chMax val="1"/>
          <dgm:chPref val="1"/>
          <dgm:dir/>
          <dgm:animOne val="branch"/>
          <dgm:animLvl val="lvl"/>
        </dgm:presLayoutVars>
      </dgm:prSet>
      <dgm:spPr/>
    </dgm:pt>
    <dgm:pt modelId="{D965253D-1582-4009-9425-C25C7D7B8EF0}" type="pres">
      <dgm:prSet presAssocID="{49E2F581-9107-4425-8110-5B6ACBF8023E}" presName="singleCycle" presStyleCnt="0"/>
      <dgm:spPr/>
    </dgm:pt>
    <dgm:pt modelId="{93843631-AA3A-4CF1-BC5D-AE1A37E2F9FB}" type="pres">
      <dgm:prSet presAssocID="{49E2F581-9107-4425-8110-5B6ACBF8023E}" presName="singleCenter" presStyleLbl="node1" presStyleIdx="0" presStyleCnt="5" custScaleX="430709" custLinFactNeighborX="-940" custLinFactNeighborY="8456">
        <dgm:presLayoutVars>
          <dgm:chMax val="7"/>
          <dgm:chPref val="7"/>
        </dgm:presLayoutVars>
      </dgm:prSet>
      <dgm:spPr/>
    </dgm:pt>
    <dgm:pt modelId="{635AAB85-4DAC-42DA-9AE5-14BE2B89084B}" type="pres">
      <dgm:prSet presAssocID="{32469C76-3F67-424C-8567-A52DF43C0199}" presName="Name56" presStyleLbl="parChTrans1D2" presStyleIdx="0" presStyleCnt="4"/>
      <dgm:spPr/>
    </dgm:pt>
    <dgm:pt modelId="{2DA67988-0A8A-4F32-93AB-F50C9FD697F1}" type="pres">
      <dgm:prSet presAssocID="{25D18341-5A6E-442E-83BB-730F62D98510}" presName="text0" presStyleLbl="node1" presStyleIdx="1" presStyleCnt="5" custScaleX="258260" custRadScaleRad="94855" custRadScaleInc="-148">
        <dgm:presLayoutVars>
          <dgm:bulletEnabled val="1"/>
        </dgm:presLayoutVars>
      </dgm:prSet>
      <dgm:spPr/>
    </dgm:pt>
    <dgm:pt modelId="{22CDFCBE-7EF9-4A65-BC6B-806BC9A667AA}" type="pres">
      <dgm:prSet presAssocID="{B041B51D-E404-40BA-A544-983A4129B728}" presName="Name56" presStyleLbl="parChTrans1D2" presStyleIdx="1" presStyleCnt="4"/>
      <dgm:spPr/>
    </dgm:pt>
    <dgm:pt modelId="{53792A62-1E49-454A-9F8F-2433DA0AFDF3}" type="pres">
      <dgm:prSet presAssocID="{1D20980D-2ADF-418E-827B-41EA0F7DF4B7}" presName="text0" presStyleLbl="node1" presStyleIdx="2" presStyleCnt="5" custScaleX="293086" custRadScaleRad="187660" custRadScaleInc="-68953">
        <dgm:presLayoutVars>
          <dgm:bulletEnabled val="1"/>
        </dgm:presLayoutVars>
      </dgm:prSet>
      <dgm:spPr/>
    </dgm:pt>
    <dgm:pt modelId="{DAB1F879-414B-487E-A5C7-89FD71C201CD}" type="pres">
      <dgm:prSet presAssocID="{8A31EEC2-1FDC-4293-9437-6421B0A94DE5}" presName="Name56" presStyleLbl="parChTrans1D2" presStyleIdx="2" presStyleCnt="4"/>
      <dgm:spPr/>
    </dgm:pt>
    <dgm:pt modelId="{7B14B26B-091E-4B65-AFFB-0DCA86603A7B}" type="pres">
      <dgm:prSet presAssocID="{20BDA9FB-7457-4EB8-B1AB-CEE13DC98A24}" presName="text0" presStyleLbl="node1" presStyleIdx="3" presStyleCnt="5" custScaleX="349301" custRadScaleRad="122592" custRadScaleInc="2440">
        <dgm:presLayoutVars>
          <dgm:bulletEnabled val="1"/>
        </dgm:presLayoutVars>
      </dgm:prSet>
      <dgm:spPr/>
    </dgm:pt>
    <dgm:pt modelId="{927B0856-5382-4441-93F3-B0BEF345E0CE}" type="pres">
      <dgm:prSet presAssocID="{A0374710-14B9-43CA-943A-FBC9AC4B6AC3}" presName="Name56" presStyleLbl="parChTrans1D2" presStyleIdx="3" presStyleCnt="4"/>
      <dgm:spPr/>
    </dgm:pt>
    <dgm:pt modelId="{F506A1D1-D248-48BE-A3AA-713370F3C1D0}" type="pres">
      <dgm:prSet presAssocID="{8474B7D6-CE18-4B2A-A395-64B151214B99}" presName="text0" presStyleLbl="node1" presStyleIdx="4" presStyleCnt="5" custScaleX="223639" custRadScaleRad="159013" custRadScaleInc="81886">
        <dgm:presLayoutVars>
          <dgm:bulletEnabled val="1"/>
        </dgm:presLayoutVars>
      </dgm:prSet>
      <dgm:spPr/>
    </dgm:pt>
  </dgm:ptLst>
  <dgm:cxnLst>
    <dgm:cxn modelId="{EEF42B03-8B90-4BB3-83CD-2B97A1493FC9}" srcId="{49E2F581-9107-4425-8110-5B6ACBF8023E}" destId="{1D20980D-2ADF-418E-827B-41EA0F7DF4B7}" srcOrd="1" destOrd="0" parTransId="{B041B51D-E404-40BA-A544-983A4129B728}" sibTransId="{A65DB0B1-AE22-4D38-9D34-8E113CAAFFFE}"/>
    <dgm:cxn modelId="{A9E6310E-F556-4504-B405-C7CBC2B38A7D}" srcId="{49E2F581-9107-4425-8110-5B6ACBF8023E}" destId="{25D18341-5A6E-442E-83BB-730F62D98510}" srcOrd="0" destOrd="0" parTransId="{32469C76-3F67-424C-8567-A52DF43C0199}" sibTransId="{FA4F10A7-063D-424F-9F32-79F8F05A0990}"/>
    <dgm:cxn modelId="{79D9B161-2E37-4AD6-B3B7-EAE563251EEA}" type="presOf" srcId="{20BDA9FB-7457-4EB8-B1AB-CEE13DC98A24}" destId="{7B14B26B-091E-4B65-AFFB-0DCA86603A7B}" srcOrd="0" destOrd="0" presId="urn:microsoft.com/office/officeart/2008/layout/RadialCluster"/>
    <dgm:cxn modelId="{EF61E164-4E70-4608-81DA-03D3FB04EE54}" type="presOf" srcId="{32469C76-3F67-424C-8567-A52DF43C0199}" destId="{635AAB85-4DAC-42DA-9AE5-14BE2B89084B}" srcOrd="0" destOrd="0" presId="urn:microsoft.com/office/officeart/2008/layout/RadialCluster"/>
    <dgm:cxn modelId="{1DA82A51-B5EE-47E1-9C33-6115B62CF5F1}" type="presOf" srcId="{25D18341-5A6E-442E-83BB-730F62D98510}" destId="{2DA67988-0A8A-4F32-93AB-F50C9FD697F1}" srcOrd="0" destOrd="0" presId="urn:microsoft.com/office/officeart/2008/layout/RadialCluster"/>
    <dgm:cxn modelId="{E8ABE090-0A5D-4E88-8209-4FC621F285AC}" type="presOf" srcId="{8474B7D6-CE18-4B2A-A395-64B151214B99}" destId="{F506A1D1-D248-48BE-A3AA-713370F3C1D0}" srcOrd="0" destOrd="0" presId="urn:microsoft.com/office/officeart/2008/layout/RadialCluster"/>
    <dgm:cxn modelId="{52880E99-FC17-4707-B919-2A13ADA9AAC0}" srcId="{49E2F581-9107-4425-8110-5B6ACBF8023E}" destId="{20BDA9FB-7457-4EB8-B1AB-CEE13DC98A24}" srcOrd="2" destOrd="0" parTransId="{8A31EEC2-1FDC-4293-9437-6421B0A94DE5}" sibTransId="{E00257B7-6DD4-4743-88B1-8AFED9FD6AEB}"/>
    <dgm:cxn modelId="{145644AD-F6CD-4A07-8079-47B8C4D5AEB0}" type="presOf" srcId="{B041B51D-E404-40BA-A544-983A4129B728}" destId="{22CDFCBE-7EF9-4A65-BC6B-806BC9A667AA}" srcOrd="0" destOrd="0" presId="urn:microsoft.com/office/officeart/2008/layout/RadialCluster"/>
    <dgm:cxn modelId="{7DAE0DB2-1C4A-4B5E-A99B-7B0A226BD72D}" type="presOf" srcId="{43FBC3CB-8000-48B9-A37E-E0B674EBCB4C}" destId="{E590166D-A115-4ACF-AA4F-BBB1111B19FE}" srcOrd="0" destOrd="0" presId="urn:microsoft.com/office/officeart/2008/layout/RadialCluster"/>
    <dgm:cxn modelId="{CE10C1C4-7949-4D49-8289-23CA8743ADBE}" srcId="{43FBC3CB-8000-48B9-A37E-E0B674EBCB4C}" destId="{49E2F581-9107-4425-8110-5B6ACBF8023E}" srcOrd="0" destOrd="0" parTransId="{87C36B34-41BB-46B5-B5FB-9766F6A9D6A8}" sibTransId="{F7E183D9-69C9-4AB6-B977-F65C39B84937}"/>
    <dgm:cxn modelId="{AD5DF1D2-2803-4359-9C9A-502F19826F14}" type="presOf" srcId="{1D20980D-2ADF-418E-827B-41EA0F7DF4B7}" destId="{53792A62-1E49-454A-9F8F-2433DA0AFDF3}" srcOrd="0" destOrd="0" presId="urn:microsoft.com/office/officeart/2008/layout/RadialCluster"/>
    <dgm:cxn modelId="{495523EE-C9F4-412D-878E-79963913709B}" type="presOf" srcId="{A0374710-14B9-43CA-943A-FBC9AC4B6AC3}" destId="{927B0856-5382-4441-93F3-B0BEF345E0CE}" srcOrd="0" destOrd="0" presId="urn:microsoft.com/office/officeart/2008/layout/RadialCluster"/>
    <dgm:cxn modelId="{65757CF3-2C0B-414B-BDA1-FC9F64272996}" type="presOf" srcId="{49E2F581-9107-4425-8110-5B6ACBF8023E}" destId="{93843631-AA3A-4CF1-BC5D-AE1A37E2F9FB}" srcOrd="0" destOrd="0" presId="urn:microsoft.com/office/officeart/2008/layout/RadialCluster"/>
    <dgm:cxn modelId="{A6328DF5-734E-42DF-9CF1-3EECD299B3C3}" srcId="{49E2F581-9107-4425-8110-5B6ACBF8023E}" destId="{8474B7D6-CE18-4B2A-A395-64B151214B99}" srcOrd="3" destOrd="0" parTransId="{A0374710-14B9-43CA-943A-FBC9AC4B6AC3}" sibTransId="{67A824E8-C8D0-4AF0-AAB5-EB9EEF142DFA}"/>
    <dgm:cxn modelId="{D3E941FE-1BC2-4336-BBFD-823218054CB3}" type="presOf" srcId="{8A31EEC2-1FDC-4293-9437-6421B0A94DE5}" destId="{DAB1F879-414B-487E-A5C7-89FD71C201CD}" srcOrd="0" destOrd="0" presId="urn:microsoft.com/office/officeart/2008/layout/RadialCluster"/>
    <dgm:cxn modelId="{4B0CCEEE-912B-4356-A888-A4A73AF24D3A}" type="presParOf" srcId="{E590166D-A115-4ACF-AA4F-BBB1111B19FE}" destId="{D965253D-1582-4009-9425-C25C7D7B8EF0}" srcOrd="0" destOrd="0" presId="urn:microsoft.com/office/officeart/2008/layout/RadialCluster"/>
    <dgm:cxn modelId="{5D704830-C5F9-4604-AD53-F5214F74AB3D}" type="presParOf" srcId="{D965253D-1582-4009-9425-C25C7D7B8EF0}" destId="{93843631-AA3A-4CF1-BC5D-AE1A37E2F9FB}" srcOrd="0" destOrd="0" presId="urn:microsoft.com/office/officeart/2008/layout/RadialCluster"/>
    <dgm:cxn modelId="{1372062E-70F8-4682-A8AC-C545D6534F9D}" type="presParOf" srcId="{D965253D-1582-4009-9425-C25C7D7B8EF0}" destId="{635AAB85-4DAC-42DA-9AE5-14BE2B89084B}" srcOrd="1" destOrd="0" presId="urn:microsoft.com/office/officeart/2008/layout/RadialCluster"/>
    <dgm:cxn modelId="{44900B77-AF01-40C4-982D-7209E3B4917C}" type="presParOf" srcId="{D965253D-1582-4009-9425-C25C7D7B8EF0}" destId="{2DA67988-0A8A-4F32-93AB-F50C9FD697F1}" srcOrd="2" destOrd="0" presId="urn:microsoft.com/office/officeart/2008/layout/RadialCluster"/>
    <dgm:cxn modelId="{B783E8A5-744B-412C-BD3C-38C2B4202571}" type="presParOf" srcId="{D965253D-1582-4009-9425-C25C7D7B8EF0}" destId="{22CDFCBE-7EF9-4A65-BC6B-806BC9A667AA}" srcOrd="3" destOrd="0" presId="urn:microsoft.com/office/officeart/2008/layout/RadialCluster"/>
    <dgm:cxn modelId="{E8EC88A4-ECD1-40EF-BD24-3987A11671D4}" type="presParOf" srcId="{D965253D-1582-4009-9425-C25C7D7B8EF0}" destId="{53792A62-1E49-454A-9F8F-2433DA0AFDF3}" srcOrd="4" destOrd="0" presId="urn:microsoft.com/office/officeart/2008/layout/RadialCluster"/>
    <dgm:cxn modelId="{7C284D9F-8A3F-4C0F-9AD9-80AC90E0AAE4}" type="presParOf" srcId="{D965253D-1582-4009-9425-C25C7D7B8EF0}" destId="{DAB1F879-414B-487E-A5C7-89FD71C201CD}" srcOrd="5" destOrd="0" presId="urn:microsoft.com/office/officeart/2008/layout/RadialCluster"/>
    <dgm:cxn modelId="{45599189-3477-478B-853D-2B2CED2E4920}" type="presParOf" srcId="{D965253D-1582-4009-9425-C25C7D7B8EF0}" destId="{7B14B26B-091E-4B65-AFFB-0DCA86603A7B}" srcOrd="6" destOrd="0" presId="urn:microsoft.com/office/officeart/2008/layout/RadialCluster"/>
    <dgm:cxn modelId="{CDA67EE4-4310-41E8-98AB-85823C9C5B5F}" type="presParOf" srcId="{D965253D-1582-4009-9425-C25C7D7B8EF0}" destId="{927B0856-5382-4441-93F3-B0BEF345E0CE}" srcOrd="7" destOrd="0" presId="urn:microsoft.com/office/officeart/2008/layout/RadialCluster"/>
    <dgm:cxn modelId="{81EC3D89-3B67-4A10-8262-0AC1DD8506F3}" type="presParOf" srcId="{D965253D-1582-4009-9425-C25C7D7B8EF0}" destId="{F506A1D1-D248-48BE-A3AA-713370F3C1D0}" srcOrd="8"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843631-AA3A-4CF1-BC5D-AE1A37E2F9FB}">
      <dsp:nvSpPr>
        <dsp:cNvPr id="0" name=""/>
        <dsp:cNvSpPr/>
      </dsp:nvSpPr>
      <dsp:spPr>
        <a:xfrm>
          <a:off x="1823202" y="2116697"/>
          <a:ext cx="6550232" cy="152080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Rule Engine (if-&gt;then)</a:t>
          </a:r>
        </a:p>
        <a:p>
          <a:pPr marL="0" lvl="0" indent="0" algn="ctr" defTabSz="1022350">
            <a:lnSpc>
              <a:spcPct val="90000"/>
            </a:lnSpc>
            <a:spcBef>
              <a:spcPct val="0"/>
            </a:spcBef>
            <a:spcAft>
              <a:spcPct val="35000"/>
            </a:spcAft>
            <a:buNone/>
          </a:pPr>
          <a:r>
            <a:rPr lang="en-US" sz="2300" kern="1200" dirty="0"/>
            <a:t>IF weekday AND time &gt; 4PM AND not gaming </a:t>
          </a:r>
        </a:p>
        <a:p>
          <a:pPr marL="0" lvl="0" indent="0" algn="ctr" defTabSz="1022350">
            <a:lnSpc>
              <a:spcPct val="90000"/>
            </a:lnSpc>
            <a:spcBef>
              <a:spcPct val="0"/>
            </a:spcBef>
            <a:spcAft>
              <a:spcPct val="35000"/>
            </a:spcAft>
            <a:buNone/>
          </a:pPr>
          <a:r>
            <a:rPr lang="en-US" sz="2300" kern="1200" dirty="0"/>
            <a:t>THEN: Remind to study </a:t>
          </a:r>
        </a:p>
      </dsp:txBody>
      <dsp:txXfrm>
        <a:off x="1897441" y="2190936"/>
        <a:ext cx="6401754" cy="1372324"/>
      </dsp:txXfrm>
    </dsp:sp>
    <dsp:sp modelId="{635AAB85-4DAC-42DA-9AE5-14BE2B89084B}">
      <dsp:nvSpPr>
        <dsp:cNvPr id="0" name=""/>
        <dsp:cNvSpPr/>
      </dsp:nvSpPr>
      <dsp:spPr>
        <a:xfrm rot="16254429">
          <a:off x="4621585" y="1620123"/>
          <a:ext cx="993273" cy="0"/>
        </a:xfrm>
        <a:custGeom>
          <a:avLst/>
          <a:gdLst/>
          <a:ahLst/>
          <a:cxnLst/>
          <a:rect l="0" t="0" r="0" b="0"/>
          <a:pathLst>
            <a:path>
              <a:moveTo>
                <a:pt x="0" y="0"/>
              </a:moveTo>
              <a:lnTo>
                <a:pt x="993273"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DA67988-0A8A-4F32-93AB-F50C9FD697F1}">
      <dsp:nvSpPr>
        <dsp:cNvPr id="0" name=""/>
        <dsp:cNvSpPr/>
      </dsp:nvSpPr>
      <dsp:spPr>
        <a:xfrm>
          <a:off x="3818397" y="104611"/>
          <a:ext cx="2631508" cy="101893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Fact 2</a:t>
          </a:r>
        </a:p>
        <a:p>
          <a:pPr marL="0" lvl="0" indent="0" algn="ctr" defTabSz="1022350">
            <a:lnSpc>
              <a:spcPct val="90000"/>
            </a:lnSpc>
            <a:spcBef>
              <a:spcPct val="0"/>
            </a:spcBef>
            <a:spcAft>
              <a:spcPct val="35000"/>
            </a:spcAft>
            <a:buNone/>
          </a:pPr>
          <a:r>
            <a:rPr lang="en-US" sz="2300" kern="1200" dirty="0"/>
            <a:t>Time = 5PM</a:t>
          </a:r>
        </a:p>
      </dsp:txBody>
      <dsp:txXfrm>
        <a:off x="3868137" y="154351"/>
        <a:ext cx="2532028" cy="919457"/>
      </dsp:txXfrm>
    </dsp:sp>
    <dsp:sp modelId="{22CDFCBE-7EF9-4A65-BC6B-806BC9A667AA}">
      <dsp:nvSpPr>
        <dsp:cNvPr id="0" name=""/>
        <dsp:cNvSpPr/>
      </dsp:nvSpPr>
      <dsp:spPr>
        <a:xfrm rot="19503829">
          <a:off x="6024614" y="1601109"/>
          <a:ext cx="1800666" cy="0"/>
        </a:xfrm>
        <a:custGeom>
          <a:avLst/>
          <a:gdLst/>
          <a:ahLst/>
          <a:cxnLst/>
          <a:rect l="0" t="0" r="0" b="0"/>
          <a:pathLst>
            <a:path>
              <a:moveTo>
                <a:pt x="0" y="0"/>
              </a:moveTo>
              <a:lnTo>
                <a:pt x="1800666"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792A62-1E49-454A-9F8F-2433DA0AFDF3}">
      <dsp:nvSpPr>
        <dsp:cNvPr id="0" name=""/>
        <dsp:cNvSpPr/>
      </dsp:nvSpPr>
      <dsp:spPr>
        <a:xfrm>
          <a:off x="6899174" y="66584"/>
          <a:ext cx="2986363" cy="101893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Fact 3</a:t>
          </a:r>
        </a:p>
        <a:p>
          <a:pPr marL="0" lvl="0" indent="0" algn="ctr" defTabSz="1022350">
            <a:lnSpc>
              <a:spcPct val="90000"/>
            </a:lnSpc>
            <a:spcBef>
              <a:spcPct val="0"/>
            </a:spcBef>
            <a:spcAft>
              <a:spcPct val="35000"/>
            </a:spcAft>
            <a:buNone/>
          </a:pPr>
          <a:r>
            <a:rPr lang="en-US" sz="2300" kern="1200" dirty="0"/>
            <a:t>Not Playing games</a:t>
          </a:r>
        </a:p>
      </dsp:txBody>
      <dsp:txXfrm>
        <a:off x="6948914" y="116324"/>
        <a:ext cx="2886883" cy="919457"/>
      </dsp:txXfrm>
    </dsp:sp>
    <dsp:sp modelId="{DAB1F879-414B-487E-A5C7-89FD71C201CD}">
      <dsp:nvSpPr>
        <dsp:cNvPr id="0" name=""/>
        <dsp:cNvSpPr/>
      </dsp:nvSpPr>
      <dsp:spPr>
        <a:xfrm rot="5419407">
          <a:off x="4886405" y="3843951"/>
          <a:ext cx="412909" cy="0"/>
        </a:xfrm>
        <a:custGeom>
          <a:avLst/>
          <a:gdLst/>
          <a:ahLst/>
          <a:cxnLst/>
          <a:rect l="0" t="0" r="0" b="0"/>
          <a:pathLst>
            <a:path>
              <a:moveTo>
                <a:pt x="0" y="0"/>
              </a:moveTo>
              <a:lnTo>
                <a:pt x="412909"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14B26B-091E-4B65-AFFB-0DCA86603A7B}">
      <dsp:nvSpPr>
        <dsp:cNvPr id="0" name=""/>
        <dsp:cNvSpPr/>
      </dsp:nvSpPr>
      <dsp:spPr>
        <a:xfrm>
          <a:off x="3309239" y="4050403"/>
          <a:ext cx="3559159" cy="101893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666750">
            <a:lnSpc>
              <a:spcPct val="90000"/>
            </a:lnSpc>
            <a:spcBef>
              <a:spcPct val="0"/>
            </a:spcBef>
            <a:spcAft>
              <a:spcPct val="35000"/>
            </a:spcAft>
            <a:buNone/>
          </a:pPr>
          <a:r>
            <a:rPr lang="en-US" sz="1500" kern="1200" dirty="0"/>
            <a:t>Output / Action: </a:t>
          </a:r>
        </a:p>
        <a:p>
          <a:pPr marL="0" lvl="0" indent="0" algn="ctr" defTabSz="666750">
            <a:lnSpc>
              <a:spcPct val="90000"/>
            </a:lnSpc>
            <a:spcBef>
              <a:spcPct val="0"/>
            </a:spcBef>
            <a:spcAft>
              <a:spcPct val="35000"/>
            </a:spcAft>
            <a:buNone/>
          </a:pPr>
          <a:r>
            <a:rPr lang="en-US" sz="1500" kern="1200" dirty="0"/>
            <a:t> "Hey Yasir! It's time</a:t>
          </a:r>
        </a:p>
        <a:p>
          <a:pPr marL="0" lvl="0" indent="0" algn="ctr" defTabSz="666750">
            <a:lnSpc>
              <a:spcPct val="90000"/>
            </a:lnSpc>
            <a:spcBef>
              <a:spcPct val="0"/>
            </a:spcBef>
            <a:spcAft>
              <a:spcPct val="35000"/>
            </a:spcAft>
            <a:buNone/>
          </a:pPr>
          <a:r>
            <a:rPr lang="en-US" sz="1500" kern="1200" dirty="0"/>
            <a:t> to study 📚" </a:t>
          </a:r>
        </a:p>
      </dsp:txBody>
      <dsp:txXfrm>
        <a:off x="3358979" y="4100143"/>
        <a:ext cx="3459679" cy="919457"/>
      </dsp:txXfrm>
    </dsp:sp>
    <dsp:sp modelId="{927B0856-5382-4441-93F3-B0BEF345E0CE}">
      <dsp:nvSpPr>
        <dsp:cNvPr id="0" name=""/>
        <dsp:cNvSpPr/>
      </dsp:nvSpPr>
      <dsp:spPr>
        <a:xfrm rot="13310785">
          <a:off x="2937026" y="1615002"/>
          <a:ext cx="1504026" cy="0"/>
        </a:xfrm>
        <a:custGeom>
          <a:avLst/>
          <a:gdLst/>
          <a:ahLst/>
          <a:cxnLst/>
          <a:rect l="0" t="0" r="0" b="0"/>
          <a:pathLst>
            <a:path>
              <a:moveTo>
                <a:pt x="0" y="0"/>
              </a:moveTo>
              <a:lnTo>
                <a:pt x="1504026" y="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506A1D1-D248-48BE-A3AA-713370F3C1D0}">
      <dsp:nvSpPr>
        <dsp:cNvPr id="0" name=""/>
        <dsp:cNvSpPr/>
      </dsp:nvSpPr>
      <dsp:spPr>
        <a:xfrm>
          <a:off x="1420585" y="94370"/>
          <a:ext cx="2278741" cy="101893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8420" tIns="58420" rIns="58420" bIns="58420" numCol="1" spcCol="1270" anchor="ctr" anchorCtr="0">
          <a:noAutofit/>
        </a:bodyPr>
        <a:lstStyle/>
        <a:p>
          <a:pPr marL="0" lvl="0" indent="0" algn="ctr" defTabSz="1022350">
            <a:lnSpc>
              <a:spcPct val="90000"/>
            </a:lnSpc>
            <a:spcBef>
              <a:spcPct val="0"/>
            </a:spcBef>
            <a:spcAft>
              <a:spcPct val="35000"/>
            </a:spcAft>
            <a:buNone/>
          </a:pPr>
          <a:r>
            <a:rPr lang="en-US" sz="2300" kern="1200" dirty="0"/>
            <a:t>Fact 1</a:t>
          </a:r>
        </a:p>
        <a:p>
          <a:pPr marL="0" lvl="0" indent="0" algn="ctr" defTabSz="1022350">
            <a:lnSpc>
              <a:spcPct val="90000"/>
            </a:lnSpc>
            <a:spcBef>
              <a:spcPct val="0"/>
            </a:spcBef>
            <a:spcAft>
              <a:spcPct val="35000"/>
            </a:spcAft>
            <a:buNone/>
          </a:pPr>
          <a:r>
            <a:rPr lang="en-US" sz="2300" kern="1200" dirty="0"/>
            <a:t>Today=Monday</a:t>
          </a:r>
        </a:p>
      </dsp:txBody>
      <dsp:txXfrm>
        <a:off x="1470325" y="144110"/>
        <a:ext cx="2179261" cy="919457"/>
      </dsp:txXfrm>
    </dsp:sp>
  </dsp:spTree>
</dsp:drawing>
</file>

<file path=ppt/diagrams/layout1.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4783-6FB9-45D5-42DE-0A3D62E404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9F572C-775D-260F-45D2-F175EE1492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2FCB16A-F7F3-9ACD-468E-90BD3CCE90ED}"/>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5" name="Footer Placeholder 4">
            <a:extLst>
              <a:ext uri="{FF2B5EF4-FFF2-40B4-BE49-F238E27FC236}">
                <a16:creationId xmlns:a16="http://schemas.microsoft.com/office/drawing/2014/main" id="{AC5054A1-6D46-42B9-65A4-C2D881CF56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02DEF1-54AE-95A9-0F58-48443903F05E}"/>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2266215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DA67D-2E31-1D71-D48D-DDD7EC165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6D735C8-C810-A932-AED1-4CE9C2FD4E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98DB42-BF02-5587-5660-E98C688AC044}"/>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5" name="Footer Placeholder 4">
            <a:extLst>
              <a:ext uri="{FF2B5EF4-FFF2-40B4-BE49-F238E27FC236}">
                <a16:creationId xmlns:a16="http://schemas.microsoft.com/office/drawing/2014/main" id="{D6C5C15C-FA45-E167-C1D9-5294F9DC3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33C7A8-98A6-35FA-8262-7F9490B2BB50}"/>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2465023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3FC8D-E0E4-77AF-D278-970CF8FF9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BDE4AE5-B755-F4C9-21BD-E93B9347DD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6EDA5D-03BE-6B13-D366-87EF777C3DD5}"/>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5" name="Footer Placeholder 4">
            <a:extLst>
              <a:ext uri="{FF2B5EF4-FFF2-40B4-BE49-F238E27FC236}">
                <a16:creationId xmlns:a16="http://schemas.microsoft.com/office/drawing/2014/main" id="{5AA5D7FD-8BA5-00A9-A26F-4490FD8D9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229894-5A93-6C0D-8A14-962AA731FE27}"/>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26138752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63755-4452-DFD9-B8A6-AAED1C1A38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3A98AF-F001-0364-CBF3-65EE86DC6F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5F7181-8784-3FE5-DA19-32991B75BE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9AD7F84-9038-59E2-663A-64917FEE5227}"/>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6" name="Footer Placeholder 5">
            <a:extLst>
              <a:ext uri="{FF2B5EF4-FFF2-40B4-BE49-F238E27FC236}">
                <a16:creationId xmlns:a16="http://schemas.microsoft.com/office/drawing/2014/main" id="{0CE89E8A-CD10-669F-50CA-2DEE49D14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330831-96AB-89B1-68F1-8CE9CF02B1D8}"/>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3386214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DE1A-2B28-92D3-EA26-2B3FFE1DFA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5EFF9A-423E-8CF7-6687-07AE66E956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89EBBF-0D98-1B79-234E-28C41D6A10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D19025-D1AB-8D8D-6362-43828ADDF2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DA8ED8-7C80-0E06-6C17-50D06758FA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0812294-1E43-AD7C-4520-9C91FC84F1D6}"/>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8" name="Footer Placeholder 7">
            <a:extLst>
              <a:ext uri="{FF2B5EF4-FFF2-40B4-BE49-F238E27FC236}">
                <a16:creationId xmlns:a16="http://schemas.microsoft.com/office/drawing/2014/main" id="{BA898557-6D41-EC4A-FC50-898958DE80D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D19134-49A0-FC30-7415-6939FAD1F46F}"/>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41064740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5DBC-C4E0-8E72-4C14-A0B3455F26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6FD5D9-D3DB-0E7A-5501-B2F032B728D5}"/>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4" name="Footer Placeholder 3">
            <a:extLst>
              <a:ext uri="{FF2B5EF4-FFF2-40B4-BE49-F238E27FC236}">
                <a16:creationId xmlns:a16="http://schemas.microsoft.com/office/drawing/2014/main" id="{FCD84482-689E-49EB-94BC-DBF3B33DE4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8249FA-55CE-46DD-E40D-35E034B8CF74}"/>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46548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731A9C-CF51-8EC0-2B1D-CD1DAAAD8560}"/>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3" name="Footer Placeholder 2">
            <a:extLst>
              <a:ext uri="{FF2B5EF4-FFF2-40B4-BE49-F238E27FC236}">
                <a16:creationId xmlns:a16="http://schemas.microsoft.com/office/drawing/2014/main" id="{416940D3-EC91-220F-4C9C-8D08D9CE4C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1B26C71-5B26-EF7F-62D0-4B5B949A7B9A}"/>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18250226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2487F-1106-7D7F-F575-2FB81B36C9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8FF9C7-2DC7-3531-01CE-3B0CD39FF6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CFD04E-3373-2BCB-4E4D-362064834D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7DA590-6D00-C62D-746F-D77E7DF1B909}"/>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6" name="Footer Placeholder 5">
            <a:extLst>
              <a:ext uri="{FF2B5EF4-FFF2-40B4-BE49-F238E27FC236}">
                <a16:creationId xmlns:a16="http://schemas.microsoft.com/office/drawing/2014/main" id="{1A68FE1D-7B24-0A96-1F5F-F1AA771941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0D6992-0B45-5B56-EFF9-FCA6ED8D3397}"/>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3426700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7DDF6-EC87-614C-2D49-A78BCD9D51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2A84-0398-86B4-A660-D43FB05B30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289EE5-0C80-FA0A-A0DE-84CAD8D789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914BC5-F3A9-133B-0A27-34F5EBBBAB81}"/>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6" name="Footer Placeholder 5">
            <a:extLst>
              <a:ext uri="{FF2B5EF4-FFF2-40B4-BE49-F238E27FC236}">
                <a16:creationId xmlns:a16="http://schemas.microsoft.com/office/drawing/2014/main" id="{FED0E8C9-3123-6E9B-4BF5-9A6E77C5E1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CA5476-885E-E397-1A28-C6D67DFB06AE}"/>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3778631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1E09-831E-2E73-A24F-26A9BD4E98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ABC1C2C-526D-7F7B-0D5B-2D2E0FA209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3FDC5-1588-7862-9068-7BF36A205AA4}"/>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5" name="Footer Placeholder 4">
            <a:extLst>
              <a:ext uri="{FF2B5EF4-FFF2-40B4-BE49-F238E27FC236}">
                <a16:creationId xmlns:a16="http://schemas.microsoft.com/office/drawing/2014/main" id="{946CADB1-C39A-0467-7F51-43361CEACD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C0EFEB-0BFC-F718-2821-3F3221440AE7}"/>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274257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EC4F38-CEE8-36AE-092E-39497977E1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21E3F59-941F-534C-7EE9-FC1CE08B3D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52B19B-448E-CD46-B429-C57E1938FE7E}"/>
              </a:ext>
            </a:extLst>
          </p:cNvPr>
          <p:cNvSpPr>
            <a:spLocks noGrp="1"/>
          </p:cNvSpPr>
          <p:nvPr>
            <p:ph type="dt" sz="half" idx="10"/>
          </p:nvPr>
        </p:nvSpPr>
        <p:spPr/>
        <p:txBody>
          <a:bodyPr/>
          <a:lstStyle/>
          <a:p>
            <a:fld id="{6CF636D7-2227-4D67-B716-4F681F468AC2}" type="datetimeFigureOut">
              <a:rPr lang="en-US" smtClean="0"/>
              <a:t>5/17/2025</a:t>
            </a:fld>
            <a:endParaRPr lang="en-US"/>
          </a:p>
        </p:txBody>
      </p:sp>
      <p:sp>
        <p:nvSpPr>
          <p:cNvPr id="5" name="Footer Placeholder 4">
            <a:extLst>
              <a:ext uri="{FF2B5EF4-FFF2-40B4-BE49-F238E27FC236}">
                <a16:creationId xmlns:a16="http://schemas.microsoft.com/office/drawing/2014/main" id="{97C26EFC-051B-7351-6F32-76090F453B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4F2D7-6AE2-6EF0-25E8-FD2A1A67FA2E}"/>
              </a:ext>
            </a:extLst>
          </p:cNvPr>
          <p:cNvSpPr>
            <a:spLocks noGrp="1"/>
          </p:cNvSpPr>
          <p:nvPr>
            <p:ph type="sldNum" sz="quarter" idx="12"/>
          </p:nvPr>
        </p:nvSpPr>
        <p:spPr/>
        <p:txBody>
          <a:bodyPr/>
          <a:lstStyle/>
          <a:p>
            <a:fld id="{3CF3A129-BBC8-4300-A7EC-3009EDCED628}" type="slidenum">
              <a:rPr lang="en-US" smtClean="0"/>
              <a:t>‹#›</a:t>
            </a:fld>
            <a:endParaRPr lang="en-US"/>
          </a:p>
        </p:txBody>
      </p:sp>
    </p:spTree>
    <p:extLst>
      <p:ext uri="{BB962C8B-B14F-4D97-AF65-F5344CB8AC3E}">
        <p14:creationId xmlns:p14="http://schemas.microsoft.com/office/powerpoint/2010/main" val="777863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21B528-EE1D-53D1-D866-CDE5F2630B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B3245E-6B7F-AC9A-352B-B7B952F509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C12D2D-B4C8-3575-1EB9-56944A0D66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F636D7-2227-4D67-B716-4F681F468AC2}" type="datetimeFigureOut">
              <a:rPr lang="en-US" smtClean="0"/>
              <a:t>5/17/2025</a:t>
            </a:fld>
            <a:endParaRPr lang="en-US"/>
          </a:p>
        </p:txBody>
      </p:sp>
      <p:sp>
        <p:nvSpPr>
          <p:cNvPr id="5" name="Footer Placeholder 4">
            <a:extLst>
              <a:ext uri="{FF2B5EF4-FFF2-40B4-BE49-F238E27FC236}">
                <a16:creationId xmlns:a16="http://schemas.microsoft.com/office/drawing/2014/main" id="{63F1BB21-BE31-DB0D-64A7-6AC9807996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C45B763-C24A-9A95-D953-0C5A1316A8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F3A129-BBC8-4300-A7EC-3009EDCED628}" type="slidenum">
              <a:rPr lang="en-US" smtClean="0"/>
              <a:t>‹#›</a:t>
            </a:fld>
            <a:endParaRPr lang="en-US"/>
          </a:p>
        </p:txBody>
      </p:sp>
    </p:spTree>
    <p:extLst>
      <p:ext uri="{BB962C8B-B14F-4D97-AF65-F5344CB8AC3E}">
        <p14:creationId xmlns:p14="http://schemas.microsoft.com/office/powerpoint/2010/main" val="1437244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7CFB9-48CD-3F6C-FECD-C78C79465C5D}"/>
              </a:ext>
            </a:extLst>
          </p:cNvPr>
          <p:cNvSpPr>
            <a:spLocks noGrp="1"/>
          </p:cNvSpPr>
          <p:nvPr>
            <p:ph type="ctrTitle"/>
          </p:nvPr>
        </p:nvSpPr>
        <p:spPr/>
        <p:txBody>
          <a:bodyPr>
            <a:normAutofit/>
          </a:bodyPr>
          <a:lstStyle/>
          <a:p>
            <a:r>
              <a:rPr lang="en-US" sz="5400" dirty="0"/>
              <a:t>Logic in Artificial Intelligence</a:t>
            </a:r>
          </a:p>
        </p:txBody>
      </p:sp>
      <p:sp>
        <p:nvSpPr>
          <p:cNvPr id="3" name="Subtitle 2">
            <a:extLst>
              <a:ext uri="{FF2B5EF4-FFF2-40B4-BE49-F238E27FC236}">
                <a16:creationId xmlns:a16="http://schemas.microsoft.com/office/drawing/2014/main" id="{0231735C-C76D-1952-E053-C4D7FEFA6E05}"/>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79234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5871-0883-FA88-B5AC-4769D8934BC1}"/>
              </a:ext>
            </a:extLst>
          </p:cNvPr>
          <p:cNvSpPr>
            <a:spLocks noGrp="1"/>
          </p:cNvSpPr>
          <p:nvPr>
            <p:ph type="title"/>
          </p:nvPr>
        </p:nvSpPr>
        <p:spPr/>
        <p:txBody>
          <a:bodyPr/>
          <a:lstStyle/>
          <a:p>
            <a:r>
              <a:rPr lang="en-US" dirty="0"/>
              <a:t>AI Helping You with Study Time</a:t>
            </a:r>
          </a:p>
        </p:txBody>
      </p:sp>
      <p:sp>
        <p:nvSpPr>
          <p:cNvPr id="3" name="Content Placeholder 2">
            <a:extLst>
              <a:ext uri="{FF2B5EF4-FFF2-40B4-BE49-F238E27FC236}">
                <a16:creationId xmlns:a16="http://schemas.microsoft.com/office/drawing/2014/main" id="{4AF58E3B-EE1F-D259-9891-535AC1F6832A}"/>
              </a:ext>
            </a:extLst>
          </p:cNvPr>
          <p:cNvSpPr>
            <a:spLocks noGrp="1"/>
          </p:cNvSpPr>
          <p:nvPr>
            <p:ph idx="1"/>
          </p:nvPr>
        </p:nvSpPr>
        <p:spPr/>
        <p:txBody>
          <a:bodyPr/>
          <a:lstStyle/>
          <a:p>
            <a:r>
              <a:rPr lang="en-US" dirty="0"/>
              <a:t>GOAL:</a:t>
            </a:r>
          </a:p>
          <a:p>
            <a:pPr>
              <a:buNone/>
            </a:pPr>
            <a:r>
              <a:rPr lang="en-US" dirty="0"/>
              <a:t>You want your AI assistant to remind you </a:t>
            </a:r>
            <a:r>
              <a:rPr lang="en-US" b="1" dirty="0"/>
              <a:t>only</a:t>
            </a:r>
            <a:r>
              <a:rPr lang="en-US" dirty="0"/>
              <a:t> when:</a:t>
            </a:r>
          </a:p>
          <a:p>
            <a:pPr>
              <a:buNone/>
            </a:pPr>
            <a:endParaRPr lang="en-US" dirty="0"/>
          </a:p>
          <a:p>
            <a:pPr>
              <a:buFont typeface="Arial" panose="020B0604020202020204" pitchFamily="34" charset="0"/>
              <a:buChar char="•"/>
            </a:pPr>
            <a:r>
              <a:rPr lang="en-US" dirty="0"/>
              <a:t>It's </a:t>
            </a:r>
            <a:r>
              <a:rPr lang="en-US" b="1" dirty="0"/>
              <a:t>Monday to Friday</a:t>
            </a:r>
            <a:endParaRPr lang="en-US" dirty="0"/>
          </a:p>
          <a:p>
            <a:pPr>
              <a:buFont typeface="Arial" panose="020B0604020202020204" pitchFamily="34" charset="0"/>
              <a:buChar char="•"/>
            </a:pPr>
            <a:r>
              <a:rPr lang="en-US" dirty="0"/>
              <a:t>The time is </a:t>
            </a:r>
            <a:r>
              <a:rPr lang="en-US" b="1" dirty="0"/>
              <a:t>after 4 PM</a:t>
            </a:r>
            <a:endParaRPr lang="en-US" dirty="0"/>
          </a:p>
          <a:p>
            <a:pPr>
              <a:buFont typeface="Arial" panose="020B0604020202020204" pitchFamily="34" charset="0"/>
              <a:buChar char="•"/>
            </a:pPr>
            <a:r>
              <a:rPr lang="en-US" dirty="0"/>
              <a:t>And you are </a:t>
            </a:r>
            <a:r>
              <a:rPr lang="en-US" b="1" dirty="0"/>
              <a:t>not already playing games</a:t>
            </a:r>
            <a:endParaRPr lang="en-US" dirty="0"/>
          </a:p>
          <a:p>
            <a:pPr marL="0" indent="0">
              <a:buNone/>
            </a:pPr>
            <a:endParaRPr lang="en-US" dirty="0"/>
          </a:p>
          <a:p>
            <a:pPr marL="0" indent="0">
              <a:buNone/>
            </a:pPr>
            <a:r>
              <a:rPr lang="en-US" dirty="0"/>
              <a:t>Let’s teach the AI this knowledge using </a:t>
            </a:r>
            <a:r>
              <a:rPr lang="en-US" b="1" dirty="0"/>
              <a:t>rules</a:t>
            </a:r>
            <a:r>
              <a:rPr lang="en-US" dirty="0"/>
              <a:t> and </a:t>
            </a:r>
            <a:r>
              <a:rPr lang="en-US" b="1" dirty="0"/>
              <a:t>facts</a:t>
            </a:r>
            <a:r>
              <a:rPr lang="en-US" dirty="0"/>
              <a:t>.</a:t>
            </a:r>
          </a:p>
          <a:p>
            <a:pPr marL="0" indent="0">
              <a:buNone/>
            </a:pPr>
            <a:endParaRPr lang="en-US" dirty="0"/>
          </a:p>
        </p:txBody>
      </p:sp>
    </p:spTree>
    <p:extLst>
      <p:ext uri="{BB962C8B-B14F-4D97-AF65-F5344CB8AC3E}">
        <p14:creationId xmlns:p14="http://schemas.microsoft.com/office/powerpoint/2010/main" val="3497369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BF2ED-2DF6-1418-A9EF-72C9607A35CF}"/>
              </a:ext>
            </a:extLst>
          </p:cNvPr>
          <p:cNvSpPr>
            <a:spLocks noGrp="1"/>
          </p:cNvSpPr>
          <p:nvPr>
            <p:ph type="title"/>
          </p:nvPr>
        </p:nvSpPr>
        <p:spPr/>
        <p:txBody>
          <a:bodyPr/>
          <a:lstStyle/>
          <a:p>
            <a:r>
              <a:rPr lang="en-US" dirty="0"/>
              <a:t>Steps</a:t>
            </a:r>
          </a:p>
        </p:txBody>
      </p:sp>
      <p:sp>
        <p:nvSpPr>
          <p:cNvPr id="4" name="Rectangle 1">
            <a:extLst>
              <a:ext uri="{FF2B5EF4-FFF2-40B4-BE49-F238E27FC236}">
                <a16:creationId xmlns:a16="http://schemas.microsoft.com/office/drawing/2014/main" id="{56FEC49B-E994-B952-D6C2-A3E0FD1F97BC}"/>
              </a:ext>
            </a:extLst>
          </p:cNvPr>
          <p:cNvSpPr>
            <a:spLocks noGrp="1" noChangeArrowheads="1"/>
          </p:cNvSpPr>
          <p:nvPr>
            <p:ph idx="1"/>
          </p:nvPr>
        </p:nvSpPr>
        <p:spPr bwMode="auto">
          <a:xfrm>
            <a:off x="838200" y="3170299"/>
            <a:ext cx="264816" cy="1661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None/>
              <a:tabLst/>
            </a:pPr>
            <a:endParaRPr lang="en-US" altLang="en-US" sz="3200" dirty="0"/>
          </a:p>
          <a:p>
            <a:pPr marL="0" marR="0" lvl="0" indent="0" algn="l" defTabSz="914400" rtl="0" eaLnBrk="0" fontAlgn="base" latinLnBrk="0" hangingPunct="0">
              <a:lnSpc>
                <a:spcPct val="100000"/>
              </a:lnSpc>
              <a:spcBef>
                <a:spcPct val="0"/>
              </a:spcBef>
              <a:spcAft>
                <a:spcPct val="0"/>
              </a:spcAft>
              <a:buClrTx/>
              <a:buSzTx/>
              <a:buNone/>
              <a:tabLst/>
            </a:pPr>
            <a:endParaRPr lang="en-US" altLang="en-US" sz="3200" dirty="0"/>
          </a:p>
        </p:txBody>
      </p:sp>
      <p:sp>
        <p:nvSpPr>
          <p:cNvPr id="6" name="Rectangle 5">
            <a:extLst>
              <a:ext uri="{FF2B5EF4-FFF2-40B4-BE49-F238E27FC236}">
                <a16:creationId xmlns:a16="http://schemas.microsoft.com/office/drawing/2014/main" id="{83E831AF-2A8C-97F6-384B-58EFFD7F0C20}"/>
              </a:ext>
            </a:extLst>
          </p:cNvPr>
          <p:cNvSpPr/>
          <p:nvPr/>
        </p:nvSpPr>
        <p:spPr>
          <a:xfrm>
            <a:off x="726622" y="1459139"/>
            <a:ext cx="4188277" cy="2351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None/>
              <a:tabLst/>
            </a:pPr>
            <a:r>
              <a:rPr lang="en-US" dirty="0"/>
              <a:t>1: Define Knowledge (Facts)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1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Today is: </a:t>
            </a:r>
            <a:r>
              <a:rPr kumimoji="0" lang="en-US" altLang="en-US" sz="1800" b="1" i="0" u="none" strike="noStrike" cap="none" normalizeH="0" baseline="0" dirty="0">
                <a:ln>
                  <a:noFill/>
                </a:ln>
                <a:solidFill>
                  <a:schemeClr val="bg1"/>
                </a:solidFill>
                <a:effectLst/>
                <a:latin typeface="Arial" panose="020B0604020202020204" pitchFamily="34" charset="0"/>
              </a:rPr>
              <a:t>Monday</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Current time: </a:t>
            </a:r>
            <a:r>
              <a:rPr kumimoji="0" lang="en-US" altLang="en-US" sz="1800" b="1" i="0" u="none" strike="noStrike" cap="none" normalizeH="0" baseline="0" dirty="0">
                <a:ln>
                  <a:noFill/>
                </a:ln>
                <a:solidFill>
                  <a:schemeClr val="bg1"/>
                </a:solidFill>
                <a:effectLst/>
                <a:latin typeface="Arial" panose="020B0604020202020204" pitchFamily="34" charset="0"/>
              </a:rPr>
              <a:t>5:00 PM</a:t>
            </a:r>
            <a:endParaRPr kumimoji="0" lang="en-US" altLang="en-US" sz="18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User status: </a:t>
            </a:r>
            <a:r>
              <a:rPr kumimoji="0" lang="en-US" altLang="en-US" sz="1800" b="1" i="0" u="none" strike="noStrike" cap="none" normalizeH="0" baseline="0" dirty="0">
                <a:ln>
                  <a:noFill/>
                </a:ln>
                <a:solidFill>
                  <a:schemeClr val="bg1"/>
                </a:solidFill>
                <a:effectLst/>
                <a:latin typeface="Arial" panose="020B0604020202020204" pitchFamily="34" charset="0"/>
              </a:rPr>
              <a:t>Not playing games</a:t>
            </a:r>
          </a:p>
        </p:txBody>
      </p:sp>
      <p:sp>
        <p:nvSpPr>
          <p:cNvPr id="8" name="Rectangle 7">
            <a:extLst>
              <a:ext uri="{FF2B5EF4-FFF2-40B4-BE49-F238E27FC236}">
                <a16:creationId xmlns:a16="http://schemas.microsoft.com/office/drawing/2014/main" id="{FE757B50-8C7F-540E-0BA8-E86D8B08FDF0}"/>
              </a:ext>
            </a:extLst>
          </p:cNvPr>
          <p:cNvSpPr/>
          <p:nvPr/>
        </p:nvSpPr>
        <p:spPr>
          <a:xfrm>
            <a:off x="5821136" y="1459139"/>
            <a:ext cx="5241469" cy="2351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None/>
              <a:tabLst/>
            </a:pPr>
            <a:r>
              <a:rPr lang="en-US" dirty="0"/>
              <a:t>2: Represent the Knowledge (Rules)</a:t>
            </a:r>
          </a:p>
          <a:p>
            <a:pPr marL="0" marR="0" lvl="0" indent="0" algn="l" defTabSz="914400" rtl="0" eaLnBrk="0" fontAlgn="base" latinLnBrk="0" hangingPunct="0">
              <a:lnSpc>
                <a:spcPct val="100000"/>
              </a:lnSpc>
              <a:spcBef>
                <a:spcPct val="0"/>
              </a:spcBef>
              <a:spcAft>
                <a:spcPct val="0"/>
              </a:spcAft>
              <a:buClrTx/>
              <a:buSzTx/>
              <a:buNone/>
              <a:tabLst/>
            </a:pPr>
            <a:endParaRPr lang="en-US" sz="1400" dirty="0"/>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t>Rule 1: </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t>IF day is Monday to Friday AND time is after 4 PM AND user is not gaming THEN remind user to study.</a:t>
            </a:r>
          </a:p>
        </p:txBody>
      </p:sp>
      <p:sp>
        <p:nvSpPr>
          <p:cNvPr id="9" name="Rectangle 8">
            <a:extLst>
              <a:ext uri="{FF2B5EF4-FFF2-40B4-BE49-F238E27FC236}">
                <a16:creationId xmlns:a16="http://schemas.microsoft.com/office/drawing/2014/main" id="{0DFA89C1-F73E-D658-1292-938E6A6CCA1B}"/>
              </a:ext>
            </a:extLst>
          </p:cNvPr>
          <p:cNvSpPr/>
          <p:nvPr/>
        </p:nvSpPr>
        <p:spPr>
          <a:xfrm>
            <a:off x="5821136" y="4345668"/>
            <a:ext cx="5241469" cy="23513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0" fontAlgn="base" latinLnBrk="0" hangingPunct="0">
              <a:lnSpc>
                <a:spcPct val="100000"/>
              </a:lnSpc>
              <a:spcBef>
                <a:spcPct val="0"/>
              </a:spcBef>
              <a:spcAft>
                <a:spcPct val="0"/>
              </a:spcAft>
              <a:buClrTx/>
              <a:buSzTx/>
              <a:buNone/>
              <a:tabLst/>
            </a:pPr>
            <a:r>
              <a:rPr lang="en-US" sz="1800" dirty="0"/>
              <a:t>3: Use the rule to make a decision</a:t>
            </a:r>
          </a:p>
          <a:p>
            <a:pPr marL="0" marR="0" lvl="0" indent="0" algn="l" defTabSz="914400" rtl="0" eaLnBrk="0" fontAlgn="base" latinLnBrk="0" hangingPunct="0">
              <a:lnSpc>
                <a:spcPct val="100000"/>
              </a:lnSpc>
              <a:spcBef>
                <a:spcPct val="0"/>
              </a:spcBef>
              <a:spcAft>
                <a:spcPct val="0"/>
              </a:spcAft>
              <a:buClrTx/>
              <a:buSzTx/>
              <a:buNone/>
              <a:tabLst/>
            </a:pPr>
            <a:endParaRPr lang="en-US" sz="105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latin typeface="Arial" panose="020B0604020202020204" pitchFamily="34" charset="0"/>
              </a:rPr>
              <a:t>AI checks: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Today is Monday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Time is 5 PM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bg1"/>
                </a:solidFill>
                <a:effectLst/>
                <a:latin typeface="Arial" panose="020B0604020202020204" pitchFamily="34" charset="0"/>
              </a:rPr>
              <a:t> Not gaming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5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bg1"/>
                </a:solidFill>
                <a:effectLst/>
                <a:latin typeface="Arial" panose="020B0604020202020204" pitchFamily="34" charset="0"/>
              </a:rPr>
              <a:t>"Hey Yasir! It's time to study."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5" name="Straight Arrow Connector 4">
            <a:extLst>
              <a:ext uri="{FF2B5EF4-FFF2-40B4-BE49-F238E27FC236}">
                <a16:creationId xmlns:a16="http://schemas.microsoft.com/office/drawing/2014/main" id="{72D189DF-F141-0B28-B3AC-419F4AE7DF07}"/>
              </a:ext>
            </a:extLst>
          </p:cNvPr>
          <p:cNvCxnSpPr>
            <a:stCxn id="6" idx="3"/>
            <a:endCxn id="8" idx="1"/>
          </p:cNvCxnSpPr>
          <p:nvPr/>
        </p:nvCxnSpPr>
        <p:spPr>
          <a:xfrm>
            <a:off x="4914899" y="2634796"/>
            <a:ext cx="906237" cy="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DE5B85E-2410-4F32-0FF5-D0EB37378E38}"/>
              </a:ext>
            </a:extLst>
          </p:cNvPr>
          <p:cNvCxnSpPr>
            <a:cxnSpLocks/>
            <a:stCxn id="8" idx="2"/>
            <a:endCxn id="9" idx="0"/>
          </p:cNvCxnSpPr>
          <p:nvPr/>
        </p:nvCxnSpPr>
        <p:spPr>
          <a:xfrm>
            <a:off x="8441871" y="3810453"/>
            <a:ext cx="0" cy="535215"/>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6188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09214A-513D-E63B-3902-E48FA2C457A1}"/>
              </a:ext>
            </a:extLst>
          </p:cNvPr>
          <p:cNvSpPr>
            <a:spLocks noGrp="1"/>
          </p:cNvSpPr>
          <p:nvPr>
            <p:ph type="title"/>
          </p:nvPr>
        </p:nvSpPr>
        <p:spPr>
          <a:xfrm>
            <a:off x="793662" y="386930"/>
            <a:ext cx="10066122" cy="1298448"/>
          </a:xfrm>
        </p:spPr>
        <p:txBody>
          <a:bodyPr anchor="b">
            <a:normAutofit/>
          </a:bodyPr>
          <a:lstStyle/>
          <a:p>
            <a:r>
              <a:rPr lang="en-US" sz="4800"/>
              <a:t>What's Happening Behind the Scenes?</a:t>
            </a:r>
          </a:p>
        </p:txBody>
      </p:sp>
      <p:sp>
        <p:nvSpPr>
          <p:cNvPr id="17" name="Rectangle 1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AD0BD7-1B7F-8E44-F83F-7811CA590CE8}"/>
              </a:ext>
            </a:extLst>
          </p:cNvPr>
          <p:cNvSpPr>
            <a:spLocks noGrp="1"/>
          </p:cNvSpPr>
          <p:nvPr>
            <p:ph idx="1"/>
          </p:nvPr>
        </p:nvSpPr>
        <p:spPr>
          <a:xfrm>
            <a:off x="793661" y="2821755"/>
            <a:ext cx="3499861" cy="3030637"/>
          </a:xfrm>
        </p:spPr>
        <p:txBody>
          <a:bodyPr anchor="ctr">
            <a:normAutofit/>
          </a:bodyPr>
          <a:lstStyle/>
          <a:p>
            <a:pPr marL="0" indent="0">
              <a:buNone/>
            </a:pPr>
            <a:r>
              <a:rPr lang="en-US" sz="2000" dirty="0"/>
              <a:t>The AI is using </a:t>
            </a:r>
            <a:r>
              <a:rPr lang="en-US" sz="2000" b="1" dirty="0"/>
              <a:t>Knowledge Representation</a:t>
            </a:r>
            <a:r>
              <a:rPr lang="en-US" sz="2000" dirty="0"/>
              <a:t> like this:</a:t>
            </a:r>
          </a:p>
          <a:p>
            <a:pPr marL="0" indent="0">
              <a:buNone/>
            </a:pPr>
            <a:endParaRPr lang="en-US" sz="2000" dirty="0"/>
          </a:p>
          <a:p>
            <a:pPr marL="0" indent="0">
              <a:buNone/>
            </a:pPr>
            <a:r>
              <a:rPr lang="en-US" sz="1400" dirty="0"/>
              <a:t>You taught your AI </a:t>
            </a:r>
            <a:r>
              <a:rPr lang="en-US" sz="1400" b="1" dirty="0"/>
              <a:t>what to look for</a:t>
            </a:r>
            <a:r>
              <a:rPr lang="en-US" sz="1400" dirty="0"/>
              <a:t> (facts) and </a:t>
            </a:r>
            <a:r>
              <a:rPr lang="en-US" sz="1400" b="1" dirty="0"/>
              <a:t>how to act</a:t>
            </a:r>
            <a:r>
              <a:rPr lang="en-US" sz="1400" dirty="0"/>
              <a:t> (rules).</a:t>
            </a:r>
          </a:p>
          <a:p>
            <a:pPr marL="0" indent="0">
              <a:buNone/>
            </a:pPr>
            <a:br>
              <a:rPr lang="en-US" sz="1400" dirty="0"/>
            </a:br>
            <a:r>
              <a:rPr lang="en-US" sz="1400" dirty="0"/>
              <a:t>This is exactly how </a:t>
            </a:r>
            <a:r>
              <a:rPr lang="en-US" sz="1400" b="1" dirty="0"/>
              <a:t>Knowledge Representation works in AI</a:t>
            </a:r>
            <a:r>
              <a:rPr lang="en-US" sz="1400" dirty="0"/>
              <a:t>.</a:t>
            </a:r>
            <a:endParaRPr lang="en-US" sz="2000" dirty="0"/>
          </a:p>
          <a:p>
            <a:pPr marL="0" indent="0">
              <a:buNone/>
            </a:pPr>
            <a:endParaRPr lang="en-US" sz="2000" dirty="0"/>
          </a:p>
          <a:p>
            <a:pPr marL="0" indent="0">
              <a:buNone/>
            </a:pPr>
            <a:endParaRPr lang="en-US" sz="2000" dirty="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7BB96164-C548-5EA7-C9E7-D911D02E6EEE}"/>
              </a:ext>
            </a:extLst>
          </p:cNvPr>
          <p:cNvGraphicFramePr>
            <a:graphicFrameLocks noGrp="1"/>
          </p:cNvGraphicFramePr>
          <p:nvPr>
            <p:extLst>
              <p:ext uri="{D42A27DB-BD31-4B8C-83A1-F6EECF244321}">
                <p14:modId xmlns:p14="http://schemas.microsoft.com/office/powerpoint/2010/main" val="499995999"/>
              </p:ext>
            </p:extLst>
          </p:nvPr>
        </p:nvGraphicFramePr>
        <p:xfrm>
          <a:off x="4364753" y="2821755"/>
          <a:ext cx="6769731" cy="3030637"/>
        </p:xfrm>
        <a:graphic>
          <a:graphicData uri="http://schemas.openxmlformats.org/drawingml/2006/table">
            <a:tbl>
              <a:tblPr/>
              <a:tblGrid>
                <a:gridCol w="2248673">
                  <a:extLst>
                    <a:ext uri="{9D8B030D-6E8A-4147-A177-3AD203B41FA5}">
                      <a16:colId xmlns:a16="http://schemas.microsoft.com/office/drawing/2014/main" val="1927504708"/>
                    </a:ext>
                  </a:extLst>
                </a:gridCol>
                <a:gridCol w="4521058">
                  <a:extLst>
                    <a:ext uri="{9D8B030D-6E8A-4147-A177-3AD203B41FA5}">
                      <a16:colId xmlns:a16="http://schemas.microsoft.com/office/drawing/2014/main" val="1412100304"/>
                    </a:ext>
                  </a:extLst>
                </a:gridCol>
              </a:tblGrid>
              <a:tr h="800954">
                <a:tc>
                  <a:txBody>
                    <a:bodyPr/>
                    <a:lstStyle/>
                    <a:p>
                      <a:r>
                        <a:rPr lang="en-US" sz="2100" dirty="0"/>
                        <a:t>Knowledge Type</a:t>
                      </a:r>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a:t>Example</a:t>
                      </a:r>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665898"/>
                  </a:ext>
                </a:extLst>
              </a:tr>
              <a:tr h="476243">
                <a:tc>
                  <a:txBody>
                    <a:bodyPr/>
                    <a:lstStyle/>
                    <a:p>
                      <a:r>
                        <a:rPr lang="en-US" sz="2100" b="1"/>
                        <a:t>Fact</a:t>
                      </a:r>
                      <a:endParaRPr lang="en-US" sz="2100"/>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a:t>Today is Monday</a:t>
                      </a:r>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2182642"/>
                  </a:ext>
                </a:extLst>
              </a:tr>
              <a:tr h="476243">
                <a:tc>
                  <a:txBody>
                    <a:bodyPr/>
                    <a:lstStyle/>
                    <a:p>
                      <a:r>
                        <a:rPr lang="en-US" sz="2100" b="1"/>
                        <a:t>Fact</a:t>
                      </a:r>
                      <a:endParaRPr lang="en-US" sz="2100"/>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a:t>Time is 5 PM</a:t>
                      </a:r>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2455250"/>
                  </a:ext>
                </a:extLst>
              </a:tr>
              <a:tr h="800954">
                <a:tc>
                  <a:txBody>
                    <a:bodyPr/>
                    <a:lstStyle/>
                    <a:p>
                      <a:r>
                        <a:rPr lang="en-US" sz="2100" b="1"/>
                        <a:t>Rule</a:t>
                      </a:r>
                      <a:endParaRPr lang="en-US" sz="2100"/>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a:t>If time &gt; 4 PM and it's a weekday, remind to study</a:t>
                      </a:r>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3174353"/>
                  </a:ext>
                </a:extLst>
              </a:tr>
              <a:tr h="476243">
                <a:tc>
                  <a:txBody>
                    <a:bodyPr/>
                    <a:lstStyle/>
                    <a:p>
                      <a:r>
                        <a:rPr lang="en-US" sz="2100" b="1"/>
                        <a:t>Decision</a:t>
                      </a:r>
                      <a:endParaRPr lang="en-US" sz="2100"/>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100" dirty="0"/>
                        <a:t>Yes, send the reminder</a:t>
                      </a:r>
                    </a:p>
                  </a:txBody>
                  <a:tcPr marL="108237" marR="108237" marT="54118" marB="5411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6091232"/>
                  </a:ext>
                </a:extLst>
              </a:tr>
            </a:tbl>
          </a:graphicData>
        </a:graphic>
      </p:graphicFrame>
    </p:spTree>
    <p:extLst>
      <p:ext uri="{BB962C8B-B14F-4D97-AF65-F5344CB8AC3E}">
        <p14:creationId xmlns:p14="http://schemas.microsoft.com/office/powerpoint/2010/main" val="3866793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395E6-EFD4-DB53-E057-33F490DA9DD0}"/>
              </a:ext>
            </a:extLst>
          </p:cNvPr>
          <p:cNvSpPr>
            <a:spLocks noGrp="1"/>
          </p:cNvSpPr>
          <p:nvPr>
            <p:ph type="title"/>
          </p:nvPr>
        </p:nvSpPr>
        <p:spPr/>
        <p:txBody>
          <a:bodyPr/>
          <a:lstStyle/>
          <a:p>
            <a:r>
              <a:rPr lang="pt-BR" dirty="0"/>
              <a:t>Visual Diagram: AI Study Reminder</a:t>
            </a:r>
            <a:endParaRPr lang="en-US" dirty="0"/>
          </a:p>
        </p:txBody>
      </p:sp>
      <p:graphicFrame>
        <p:nvGraphicFramePr>
          <p:cNvPr id="4" name="Content Placeholder 3">
            <a:extLst>
              <a:ext uri="{FF2B5EF4-FFF2-40B4-BE49-F238E27FC236}">
                <a16:creationId xmlns:a16="http://schemas.microsoft.com/office/drawing/2014/main" id="{5528EAE1-4A65-B466-6860-2EBF594267D1}"/>
              </a:ext>
            </a:extLst>
          </p:cNvPr>
          <p:cNvGraphicFramePr>
            <a:graphicFrameLocks noGrp="1"/>
          </p:cNvGraphicFramePr>
          <p:nvPr>
            <p:ph idx="1"/>
            <p:extLst>
              <p:ext uri="{D42A27DB-BD31-4B8C-83A1-F6EECF244321}">
                <p14:modId xmlns:p14="http://schemas.microsoft.com/office/powerpoint/2010/main" val="838908390"/>
              </p:ext>
            </p:extLst>
          </p:nvPr>
        </p:nvGraphicFramePr>
        <p:xfrm>
          <a:off x="838200" y="1690687"/>
          <a:ext cx="10515600" cy="50693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2729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DE23F7-A4FE-2B77-0B2C-E635EBFBFB67}"/>
              </a:ext>
            </a:extLst>
          </p:cNvPr>
          <p:cNvSpPr>
            <a:spLocks noGrp="1"/>
          </p:cNvSpPr>
          <p:nvPr>
            <p:ph type="title"/>
          </p:nvPr>
        </p:nvSpPr>
        <p:spPr>
          <a:xfrm>
            <a:off x="793662" y="386930"/>
            <a:ext cx="10066122" cy="1298448"/>
          </a:xfrm>
        </p:spPr>
        <p:txBody>
          <a:bodyPr anchor="b">
            <a:normAutofit/>
          </a:bodyPr>
          <a:lstStyle/>
          <a:p>
            <a:r>
              <a:rPr lang="en-US" sz="4800" dirty="0"/>
              <a:t>Propositional Logic</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29FC0F-5C2C-ECB4-4D10-C4DEAF764EFB}"/>
              </a:ext>
            </a:extLst>
          </p:cNvPr>
          <p:cNvSpPr>
            <a:spLocks noGrp="1"/>
          </p:cNvSpPr>
          <p:nvPr>
            <p:ph idx="1"/>
          </p:nvPr>
        </p:nvSpPr>
        <p:spPr>
          <a:xfrm>
            <a:off x="793661" y="2599509"/>
            <a:ext cx="4530898" cy="3639450"/>
          </a:xfrm>
        </p:spPr>
        <p:txBody>
          <a:bodyPr anchor="ctr">
            <a:normAutofit/>
          </a:bodyPr>
          <a:lstStyle/>
          <a:p>
            <a:pPr marL="0" indent="0">
              <a:buNone/>
            </a:pPr>
            <a:r>
              <a:rPr lang="en-US" sz="2000"/>
              <a:t>Let’s define simple </a:t>
            </a:r>
            <a:r>
              <a:rPr lang="en-US" sz="2000" b="1"/>
              <a:t>propositions</a:t>
            </a:r>
            <a:r>
              <a:rPr lang="en-US" sz="2000"/>
              <a:t> (true/false statements):</a:t>
            </a:r>
          </a:p>
          <a:p>
            <a:pPr marL="0" indent="0">
              <a:buNone/>
            </a:pPr>
            <a:endParaRPr lang="en-US" sz="200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7D73B912-8D95-90BB-83E9-7E944D98ED58}"/>
              </a:ext>
            </a:extLst>
          </p:cNvPr>
          <p:cNvGraphicFramePr>
            <a:graphicFrameLocks noGrp="1"/>
          </p:cNvGraphicFramePr>
          <p:nvPr>
            <p:extLst>
              <p:ext uri="{D42A27DB-BD31-4B8C-83A1-F6EECF244321}">
                <p14:modId xmlns:p14="http://schemas.microsoft.com/office/powerpoint/2010/main" val="1813463674"/>
              </p:ext>
            </p:extLst>
          </p:nvPr>
        </p:nvGraphicFramePr>
        <p:xfrm>
          <a:off x="5911532" y="2561462"/>
          <a:ext cx="5150278" cy="3559830"/>
        </p:xfrm>
        <a:graphic>
          <a:graphicData uri="http://schemas.openxmlformats.org/drawingml/2006/table">
            <a:tbl>
              <a:tblPr>
                <a:solidFill>
                  <a:schemeClr val="accent1">
                    <a:lumMod val="20000"/>
                    <a:lumOff val="80000"/>
                  </a:schemeClr>
                </a:solidFill>
              </a:tblPr>
              <a:tblGrid>
                <a:gridCol w="1679227">
                  <a:extLst>
                    <a:ext uri="{9D8B030D-6E8A-4147-A177-3AD203B41FA5}">
                      <a16:colId xmlns:a16="http://schemas.microsoft.com/office/drawing/2014/main" val="149588984"/>
                    </a:ext>
                  </a:extLst>
                </a:gridCol>
                <a:gridCol w="3471051">
                  <a:extLst>
                    <a:ext uri="{9D8B030D-6E8A-4147-A177-3AD203B41FA5}">
                      <a16:colId xmlns:a16="http://schemas.microsoft.com/office/drawing/2014/main" val="1299410024"/>
                    </a:ext>
                  </a:extLst>
                </a:gridCol>
              </a:tblGrid>
              <a:tr h="711966">
                <a:tc>
                  <a:txBody>
                    <a:bodyPr/>
                    <a:lstStyle/>
                    <a:p>
                      <a:r>
                        <a:rPr lang="en-US" sz="2700" b="1" cap="none" spc="0" dirty="0">
                          <a:solidFill>
                            <a:schemeClr val="tx1"/>
                          </a:solidFill>
                        </a:rPr>
                        <a:t>Symbol</a:t>
                      </a: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700" b="1" cap="none" spc="0" dirty="0">
                          <a:solidFill>
                            <a:schemeClr val="tx1"/>
                          </a:solidFill>
                        </a:rPr>
                        <a:t>Meaning</a:t>
                      </a: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5686690"/>
                  </a:ext>
                </a:extLst>
              </a:tr>
              <a:tr h="711966">
                <a:tc>
                  <a:txBody>
                    <a:bodyPr/>
                    <a:lstStyle/>
                    <a:p>
                      <a:r>
                        <a:rPr lang="en-US" sz="2700" b="1" cap="none" spc="0" dirty="0">
                          <a:solidFill>
                            <a:schemeClr val="tx1"/>
                          </a:solidFill>
                        </a:rPr>
                        <a:t>W</a:t>
                      </a:r>
                      <a:endParaRPr lang="en-US" sz="2700" cap="none" spc="0" dirty="0">
                        <a:solidFill>
                          <a:schemeClr val="tx1"/>
                        </a:solidFill>
                      </a:endParaRP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700" cap="none" spc="0">
                          <a:solidFill>
                            <a:schemeClr val="tx1"/>
                          </a:solidFill>
                        </a:rPr>
                        <a:t>It is a weekday</a:t>
                      </a: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7801732"/>
                  </a:ext>
                </a:extLst>
              </a:tr>
              <a:tr h="711966">
                <a:tc>
                  <a:txBody>
                    <a:bodyPr/>
                    <a:lstStyle/>
                    <a:p>
                      <a:r>
                        <a:rPr lang="en-US" sz="2700" b="1" cap="none" spc="0" dirty="0">
                          <a:solidFill>
                            <a:schemeClr val="tx1"/>
                          </a:solidFill>
                        </a:rPr>
                        <a:t>T</a:t>
                      </a:r>
                      <a:endParaRPr lang="en-US" sz="2700" cap="none" spc="0" dirty="0">
                        <a:solidFill>
                          <a:schemeClr val="tx1"/>
                        </a:solidFill>
                      </a:endParaRP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700" cap="none" spc="0" dirty="0">
                          <a:solidFill>
                            <a:schemeClr val="tx1"/>
                          </a:solidFill>
                        </a:rPr>
                        <a:t>Time is after 4 PM</a:t>
                      </a: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09902254"/>
                  </a:ext>
                </a:extLst>
              </a:tr>
              <a:tr h="711966">
                <a:tc>
                  <a:txBody>
                    <a:bodyPr/>
                    <a:lstStyle/>
                    <a:p>
                      <a:r>
                        <a:rPr lang="en-US" sz="2700" b="1" cap="none" spc="0">
                          <a:solidFill>
                            <a:schemeClr val="tx1"/>
                          </a:solidFill>
                        </a:rPr>
                        <a:t>¬G</a:t>
                      </a:r>
                      <a:endParaRPr lang="en-US" sz="2700" cap="none" spc="0">
                        <a:solidFill>
                          <a:schemeClr val="tx1"/>
                        </a:solidFill>
                      </a:endParaRP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700" cap="none" spc="0" dirty="0">
                          <a:solidFill>
                            <a:schemeClr val="tx1"/>
                          </a:solidFill>
                        </a:rPr>
                        <a:t>User is </a:t>
                      </a:r>
                      <a:r>
                        <a:rPr lang="en-US" sz="2700" b="1" cap="none" spc="0" dirty="0">
                          <a:solidFill>
                            <a:schemeClr val="tx1"/>
                          </a:solidFill>
                        </a:rPr>
                        <a:t>not</a:t>
                      </a:r>
                      <a:r>
                        <a:rPr lang="en-US" sz="2700" cap="none" spc="0" dirty="0">
                          <a:solidFill>
                            <a:schemeClr val="tx1"/>
                          </a:solidFill>
                        </a:rPr>
                        <a:t> gaming</a:t>
                      </a: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735682"/>
                  </a:ext>
                </a:extLst>
              </a:tr>
              <a:tr h="711966">
                <a:tc>
                  <a:txBody>
                    <a:bodyPr/>
                    <a:lstStyle/>
                    <a:p>
                      <a:r>
                        <a:rPr lang="en-US" sz="2700" b="1" cap="none" spc="0">
                          <a:solidFill>
                            <a:schemeClr val="tx1"/>
                          </a:solidFill>
                        </a:rPr>
                        <a:t>R</a:t>
                      </a:r>
                      <a:endParaRPr lang="en-US" sz="2700" cap="none" spc="0">
                        <a:solidFill>
                          <a:schemeClr val="tx1"/>
                        </a:solidFill>
                      </a:endParaRP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700" cap="none" spc="0" dirty="0">
                          <a:solidFill>
                            <a:schemeClr val="tx1"/>
                          </a:solidFill>
                        </a:rPr>
                        <a:t>Remind to study</a:t>
                      </a:r>
                    </a:p>
                  </a:txBody>
                  <a:tcPr marL="155905" marR="155905" marT="77952" marB="1559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7308529"/>
                  </a:ext>
                </a:extLst>
              </a:tr>
            </a:tbl>
          </a:graphicData>
        </a:graphic>
      </p:graphicFrame>
    </p:spTree>
    <p:extLst>
      <p:ext uri="{BB962C8B-B14F-4D97-AF65-F5344CB8AC3E}">
        <p14:creationId xmlns:p14="http://schemas.microsoft.com/office/powerpoint/2010/main" val="2482487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9151-2A38-3773-BE9B-7F07B93BDD32}"/>
              </a:ext>
            </a:extLst>
          </p:cNvPr>
          <p:cNvSpPr>
            <a:spLocks noGrp="1"/>
          </p:cNvSpPr>
          <p:nvPr>
            <p:ph type="title"/>
          </p:nvPr>
        </p:nvSpPr>
        <p:spPr/>
        <p:txBody>
          <a:bodyPr/>
          <a:lstStyle/>
          <a:p>
            <a:r>
              <a:rPr lang="en-US" dirty="0"/>
              <a:t>Rule (in logic):</a:t>
            </a:r>
          </a:p>
        </p:txBody>
      </p:sp>
      <p:sp>
        <p:nvSpPr>
          <p:cNvPr id="3" name="Content Placeholder 2">
            <a:extLst>
              <a:ext uri="{FF2B5EF4-FFF2-40B4-BE49-F238E27FC236}">
                <a16:creationId xmlns:a16="http://schemas.microsoft.com/office/drawing/2014/main" id="{D19042B9-7E7D-4273-FEC8-888F4DD85382}"/>
              </a:ext>
            </a:extLst>
          </p:cNvPr>
          <p:cNvSpPr>
            <a:spLocks noGrp="1"/>
          </p:cNvSpPr>
          <p:nvPr>
            <p:ph idx="1"/>
          </p:nvPr>
        </p:nvSpPr>
        <p:spPr/>
        <p:txBody>
          <a:bodyPr/>
          <a:lstStyle/>
          <a:p>
            <a:pPr marL="0" indent="0">
              <a:buNone/>
            </a:pPr>
            <a:r>
              <a:rPr lang="en-US" dirty="0"/>
              <a:t>(W ∧ T ∧ ¬G) → R</a:t>
            </a:r>
          </a:p>
          <a:p>
            <a:pPr marL="0" indent="0">
              <a:buNone/>
            </a:pPr>
            <a:endParaRPr lang="en-US" dirty="0"/>
          </a:p>
          <a:p>
            <a:pPr>
              <a:buNone/>
            </a:pPr>
            <a:r>
              <a:rPr lang="en-US" b="1" dirty="0"/>
              <a:t>Explanation:</a:t>
            </a:r>
            <a:endParaRPr lang="en-US" dirty="0"/>
          </a:p>
          <a:p>
            <a:pPr>
              <a:buFont typeface="Arial" panose="020B0604020202020204" pitchFamily="34" charset="0"/>
              <a:buChar char="•"/>
            </a:pPr>
            <a:r>
              <a:rPr lang="en-US" dirty="0"/>
              <a:t>If it's a weekday (W)</a:t>
            </a:r>
          </a:p>
          <a:p>
            <a:pPr>
              <a:buFont typeface="Arial" panose="020B0604020202020204" pitchFamily="34" charset="0"/>
              <a:buChar char="•"/>
            </a:pPr>
            <a:r>
              <a:rPr lang="en-US" dirty="0"/>
              <a:t>And time is after 4 PM (T)</a:t>
            </a:r>
          </a:p>
          <a:p>
            <a:pPr>
              <a:buFont typeface="Arial" panose="020B0604020202020204" pitchFamily="34" charset="0"/>
              <a:buChar char="•"/>
            </a:pPr>
            <a:r>
              <a:rPr lang="en-US" dirty="0"/>
              <a:t>And the user is </a:t>
            </a:r>
            <a:r>
              <a:rPr lang="en-US" b="1" dirty="0"/>
              <a:t>not</a:t>
            </a:r>
            <a:r>
              <a:rPr lang="en-US" dirty="0"/>
              <a:t> playing games (¬G)</a:t>
            </a:r>
          </a:p>
          <a:p>
            <a:pPr>
              <a:buFont typeface="Arial" panose="020B0604020202020204" pitchFamily="34" charset="0"/>
              <a:buChar char="•"/>
            </a:pPr>
            <a:r>
              <a:rPr lang="en-US" b="1" dirty="0"/>
              <a:t>Then</a:t>
            </a:r>
            <a:r>
              <a:rPr lang="en-US" dirty="0"/>
              <a:t> the AI should remind to study (R)</a:t>
            </a:r>
          </a:p>
          <a:p>
            <a:pPr marL="0" indent="0">
              <a:buNone/>
            </a:pPr>
            <a:endParaRPr lang="en-US" dirty="0"/>
          </a:p>
        </p:txBody>
      </p:sp>
    </p:spTree>
    <p:extLst>
      <p:ext uri="{BB962C8B-B14F-4D97-AF65-F5344CB8AC3E}">
        <p14:creationId xmlns:p14="http://schemas.microsoft.com/office/powerpoint/2010/main" val="1197002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AD07-D097-4617-6AB5-17FBA72D6CD7}"/>
              </a:ext>
            </a:extLst>
          </p:cNvPr>
          <p:cNvSpPr>
            <a:spLocks noGrp="1"/>
          </p:cNvSpPr>
          <p:nvPr>
            <p:ph type="title"/>
          </p:nvPr>
        </p:nvSpPr>
        <p:spPr/>
        <p:txBody>
          <a:bodyPr/>
          <a:lstStyle/>
          <a:p>
            <a:r>
              <a:rPr lang="en-US" dirty="0"/>
              <a:t>AI Reminder Mini Project</a:t>
            </a:r>
          </a:p>
        </p:txBody>
      </p:sp>
      <p:sp>
        <p:nvSpPr>
          <p:cNvPr id="3" name="Content Placeholder 2">
            <a:extLst>
              <a:ext uri="{FF2B5EF4-FFF2-40B4-BE49-F238E27FC236}">
                <a16:creationId xmlns:a16="http://schemas.microsoft.com/office/drawing/2014/main" id="{57E00549-5EEB-DE57-22BE-997ED4452D19}"/>
              </a:ext>
            </a:extLst>
          </p:cNvPr>
          <p:cNvSpPr>
            <a:spLocks noGrp="1"/>
          </p:cNvSpPr>
          <p:nvPr>
            <p:ph idx="1"/>
          </p:nvPr>
        </p:nvSpPr>
        <p:spPr/>
        <p:txBody>
          <a:bodyPr/>
          <a:lstStyle/>
          <a:p>
            <a:r>
              <a:rPr lang="en-US" dirty="0"/>
              <a:t>Run a-reminder.py</a:t>
            </a:r>
          </a:p>
          <a:p>
            <a:r>
              <a:rPr lang="en-US" dirty="0"/>
              <a:t>Run UI: </a:t>
            </a:r>
            <a:r>
              <a:rPr lang="en-US" dirty="0" err="1"/>
              <a:t>study_reminder_app</a:t>
            </a:r>
            <a:endParaRPr lang="en-US" dirty="0"/>
          </a:p>
          <a:p>
            <a:pPr marL="0" indent="0">
              <a:buNone/>
            </a:pPr>
            <a:endParaRPr lang="en-US" dirty="0"/>
          </a:p>
        </p:txBody>
      </p:sp>
    </p:spTree>
    <p:extLst>
      <p:ext uri="{BB962C8B-B14F-4D97-AF65-F5344CB8AC3E}">
        <p14:creationId xmlns:p14="http://schemas.microsoft.com/office/powerpoint/2010/main" val="42940405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5E69D4-8A76-B3CE-7546-13ABCAE04DAB}"/>
              </a:ext>
            </a:extLst>
          </p:cNvPr>
          <p:cNvSpPr>
            <a:spLocks noGrp="1"/>
          </p:cNvSpPr>
          <p:nvPr>
            <p:ph type="title"/>
          </p:nvPr>
        </p:nvSpPr>
        <p:spPr>
          <a:xfrm>
            <a:off x="793662" y="386930"/>
            <a:ext cx="10066122" cy="1298448"/>
          </a:xfrm>
        </p:spPr>
        <p:txBody>
          <a:bodyPr anchor="b">
            <a:normAutofit/>
          </a:bodyPr>
          <a:lstStyle/>
          <a:p>
            <a:r>
              <a:rPr lang="en-US" sz="4800" dirty="0"/>
              <a:t>Predicate Logic</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6F0B2EA-C1A0-6A8F-8CDA-A6075CFB9BFE}"/>
              </a:ext>
            </a:extLst>
          </p:cNvPr>
          <p:cNvSpPr>
            <a:spLocks noGrp="1"/>
          </p:cNvSpPr>
          <p:nvPr>
            <p:ph idx="1"/>
          </p:nvPr>
        </p:nvSpPr>
        <p:spPr>
          <a:xfrm>
            <a:off x="614045" y="3172045"/>
            <a:ext cx="5770426" cy="3081798"/>
          </a:xfrm>
        </p:spPr>
        <p:txBody>
          <a:bodyPr anchor="ctr">
            <a:normAutofit/>
          </a:bodyPr>
          <a:lstStyle/>
          <a:p>
            <a:pPr marL="0" indent="0">
              <a:buNone/>
            </a:pPr>
            <a:r>
              <a:rPr lang="en-US" sz="2000" dirty="0"/>
              <a:t>Predicate logic adds more </a:t>
            </a:r>
            <a:r>
              <a:rPr lang="en-US" sz="2000" b="1" dirty="0"/>
              <a:t>detail and structure</a:t>
            </a:r>
            <a:r>
              <a:rPr lang="en-US" sz="2000" dirty="0"/>
              <a:t> using variables.</a:t>
            </a:r>
          </a:p>
          <a:p>
            <a:pPr marL="0" indent="0">
              <a:buNone/>
            </a:pPr>
            <a:endParaRPr lang="en-US" sz="1050" dirty="0"/>
          </a:p>
          <a:p>
            <a:pPr marL="0" indent="0">
              <a:buNone/>
            </a:pPr>
            <a:r>
              <a:rPr lang="en-US" sz="1400" dirty="0"/>
              <a:t>Weekday(x) ∧ </a:t>
            </a:r>
            <a:r>
              <a:rPr lang="en-US" sz="1400" dirty="0" err="1"/>
              <a:t>TimeAfter</a:t>
            </a:r>
            <a:r>
              <a:rPr lang="en-US" sz="1400" dirty="0"/>
              <a:t>(x, 16) ∧ </a:t>
            </a:r>
            <a:r>
              <a:rPr lang="en-US" sz="1400" dirty="0" err="1"/>
              <a:t>NotPlaying</a:t>
            </a:r>
            <a:r>
              <a:rPr lang="en-US" sz="1400" dirty="0"/>
              <a:t>(x) → Remind(x)</a:t>
            </a:r>
          </a:p>
          <a:p>
            <a:pPr marL="0" indent="0">
              <a:buNone/>
            </a:pPr>
            <a:endParaRPr lang="en-US" sz="1400" dirty="0"/>
          </a:p>
          <a:p>
            <a:pPr marL="0" indent="0">
              <a:buNone/>
            </a:pPr>
            <a:r>
              <a:rPr lang="en-US" sz="1400" dirty="0"/>
              <a:t>Weekday(</a:t>
            </a:r>
            <a:r>
              <a:rPr lang="en-US" sz="1400" dirty="0" err="1"/>
              <a:t>Moday</a:t>
            </a:r>
            <a:r>
              <a:rPr lang="en-US" sz="1400" dirty="0"/>
              <a:t>) ∧ </a:t>
            </a:r>
            <a:r>
              <a:rPr lang="en-US" sz="1400" dirty="0" err="1"/>
              <a:t>TimeAfter</a:t>
            </a:r>
            <a:r>
              <a:rPr lang="en-US" sz="1400" dirty="0"/>
              <a:t>(17, 16) ∧ </a:t>
            </a:r>
            <a:r>
              <a:rPr lang="en-US" sz="1400" dirty="0" err="1"/>
              <a:t>NotPlaying</a:t>
            </a:r>
            <a:r>
              <a:rPr lang="en-US" sz="1400" dirty="0"/>
              <a:t>(Yasir) → Remind(Yasir)</a:t>
            </a:r>
          </a:p>
          <a:p>
            <a:pPr marL="0" indent="0">
              <a:buNone/>
            </a:pPr>
            <a:endParaRPr lang="en-US" sz="1400" dirty="0"/>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Since all are true, the AI concludes: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Unicode MS"/>
              </a:rPr>
              <a:t>Remind(Yasir)</a:t>
            </a:r>
            <a:r>
              <a:rPr kumimoji="0" lang="en-US" altLang="en-US" sz="10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panose="020B0604020202020204" pitchFamily="34" charset="0"/>
              </a:rPr>
              <a:t>is TRUE → "Hey Yasir! It’s time to study 📚"</a:t>
            </a:r>
          </a:p>
          <a:p>
            <a:pPr marL="0" indent="0">
              <a:buNone/>
            </a:pPr>
            <a:endParaRPr lang="en-US" sz="1400" dirty="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CCFC9FB3-61D7-7F86-68DB-236BCAE20EC8}"/>
              </a:ext>
            </a:extLst>
          </p:cNvPr>
          <p:cNvGraphicFramePr>
            <a:graphicFrameLocks noGrp="1"/>
          </p:cNvGraphicFramePr>
          <p:nvPr>
            <p:extLst>
              <p:ext uri="{D42A27DB-BD31-4B8C-83A1-F6EECF244321}">
                <p14:modId xmlns:p14="http://schemas.microsoft.com/office/powerpoint/2010/main" val="1433491628"/>
              </p:ext>
            </p:extLst>
          </p:nvPr>
        </p:nvGraphicFramePr>
        <p:xfrm>
          <a:off x="6441621" y="3172045"/>
          <a:ext cx="4620188" cy="2555636"/>
        </p:xfrm>
        <a:graphic>
          <a:graphicData uri="http://schemas.openxmlformats.org/drawingml/2006/table">
            <a:tbl>
              <a:tblPr/>
              <a:tblGrid>
                <a:gridCol w="1697527">
                  <a:extLst>
                    <a:ext uri="{9D8B030D-6E8A-4147-A177-3AD203B41FA5}">
                      <a16:colId xmlns:a16="http://schemas.microsoft.com/office/drawing/2014/main" val="3477686505"/>
                    </a:ext>
                  </a:extLst>
                </a:gridCol>
                <a:gridCol w="2922661">
                  <a:extLst>
                    <a:ext uri="{9D8B030D-6E8A-4147-A177-3AD203B41FA5}">
                      <a16:colId xmlns:a16="http://schemas.microsoft.com/office/drawing/2014/main" val="2090550444"/>
                    </a:ext>
                  </a:extLst>
                </a:gridCol>
              </a:tblGrid>
              <a:tr h="389778">
                <a:tc>
                  <a:txBody>
                    <a:bodyPr/>
                    <a:lstStyle/>
                    <a:p>
                      <a:r>
                        <a:rPr lang="en-US" sz="1700" b="1" dirty="0"/>
                        <a:t>Symbol</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sz="1700" b="1" dirty="0"/>
                        <a:t>Meaning</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236574070"/>
                  </a:ext>
                </a:extLst>
              </a:tr>
              <a:tr h="389778">
                <a:tc>
                  <a:txBody>
                    <a:bodyPr/>
                    <a:lstStyle/>
                    <a:p>
                      <a:r>
                        <a:rPr lang="en-US" sz="1700" dirty="0"/>
                        <a:t>Weekday(x)</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sz="1700"/>
                        <a:t>x is a weekday</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58797221"/>
                  </a:ext>
                </a:extLst>
              </a:tr>
              <a:tr h="389778">
                <a:tc>
                  <a:txBody>
                    <a:bodyPr/>
                    <a:lstStyle/>
                    <a:p>
                      <a:r>
                        <a:rPr lang="en-US" sz="1700" dirty="0" err="1"/>
                        <a:t>TimeAfter</a:t>
                      </a:r>
                      <a:r>
                        <a:rPr lang="en-US" sz="1700" dirty="0"/>
                        <a:t>(x, 16)</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sz="1700"/>
                        <a:t>x is a time after 4 PM</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058486212"/>
                  </a:ext>
                </a:extLst>
              </a:tr>
              <a:tr h="389778">
                <a:tc>
                  <a:txBody>
                    <a:bodyPr/>
                    <a:lstStyle/>
                    <a:p>
                      <a:r>
                        <a:rPr lang="en-US" sz="1700" dirty="0" err="1"/>
                        <a:t>NotPlaying</a:t>
                      </a:r>
                      <a:r>
                        <a:rPr lang="en-US" sz="1700" dirty="0"/>
                        <a:t>(x)</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sz="1700" dirty="0"/>
                        <a:t>x is not playing games</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791133091"/>
                  </a:ext>
                </a:extLst>
              </a:tr>
              <a:tr h="389778">
                <a:tc>
                  <a:txBody>
                    <a:bodyPr/>
                    <a:lstStyle/>
                    <a:p>
                      <a:r>
                        <a:rPr lang="en-US" sz="1700" dirty="0"/>
                        <a:t>Remind(x)</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sz="1700" dirty="0"/>
                        <a:t>x should be reminded to study</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856590017"/>
                  </a:ext>
                </a:extLst>
              </a:tr>
              <a:tr h="389778">
                <a:tc>
                  <a:txBody>
                    <a:bodyPr/>
                    <a:lstStyle/>
                    <a:p>
                      <a:r>
                        <a:rPr lang="en-US" sz="1700" dirty="0"/>
                        <a:t>Ahmed</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sz="1700" dirty="0"/>
                        <a:t>the user (constant)</a:t>
                      </a:r>
                    </a:p>
                  </a:txBody>
                  <a:tcPr marL="88586" marR="88586" marT="44293" marB="4429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1403163988"/>
                  </a:ext>
                </a:extLst>
              </a:tr>
            </a:tbl>
          </a:graphicData>
        </a:graphic>
      </p:graphicFrame>
    </p:spTree>
    <p:extLst>
      <p:ext uri="{BB962C8B-B14F-4D97-AF65-F5344CB8AC3E}">
        <p14:creationId xmlns:p14="http://schemas.microsoft.com/office/powerpoint/2010/main" val="3215265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A2AD0-2EB2-C54B-E577-BA6DAFCADAEA}"/>
              </a:ext>
            </a:extLst>
          </p:cNvPr>
          <p:cNvSpPr>
            <a:spLocks noGrp="1"/>
          </p:cNvSpPr>
          <p:nvPr>
            <p:ph type="title"/>
          </p:nvPr>
        </p:nvSpPr>
        <p:spPr/>
        <p:txBody>
          <a:bodyPr/>
          <a:lstStyle/>
          <a:p>
            <a:r>
              <a:rPr lang="en-US" dirty="0"/>
              <a:t>Summary</a:t>
            </a:r>
          </a:p>
        </p:txBody>
      </p:sp>
      <p:graphicFrame>
        <p:nvGraphicFramePr>
          <p:cNvPr id="4" name="Content Placeholder 3">
            <a:extLst>
              <a:ext uri="{FF2B5EF4-FFF2-40B4-BE49-F238E27FC236}">
                <a16:creationId xmlns:a16="http://schemas.microsoft.com/office/drawing/2014/main" id="{F9139D4B-46E2-4012-9170-D1ABBC7DB98E}"/>
              </a:ext>
            </a:extLst>
          </p:cNvPr>
          <p:cNvGraphicFramePr>
            <a:graphicFrameLocks noGrp="1"/>
          </p:cNvGraphicFramePr>
          <p:nvPr>
            <p:ph idx="1"/>
            <p:extLst>
              <p:ext uri="{D42A27DB-BD31-4B8C-83A1-F6EECF244321}">
                <p14:modId xmlns:p14="http://schemas.microsoft.com/office/powerpoint/2010/main" val="864624026"/>
              </p:ext>
            </p:extLst>
          </p:nvPr>
        </p:nvGraphicFramePr>
        <p:xfrm>
          <a:off x="838200" y="2331720"/>
          <a:ext cx="10515600" cy="1645920"/>
        </p:xfrm>
        <a:graphic>
          <a:graphicData uri="http://schemas.openxmlformats.org/drawingml/2006/table">
            <a:tbl>
              <a:tblPr/>
              <a:tblGrid>
                <a:gridCol w="2231571">
                  <a:extLst>
                    <a:ext uri="{9D8B030D-6E8A-4147-A177-3AD203B41FA5}">
                      <a16:colId xmlns:a16="http://schemas.microsoft.com/office/drawing/2014/main" val="827572296"/>
                    </a:ext>
                  </a:extLst>
                </a:gridCol>
                <a:gridCol w="4778829">
                  <a:extLst>
                    <a:ext uri="{9D8B030D-6E8A-4147-A177-3AD203B41FA5}">
                      <a16:colId xmlns:a16="http://schemas.microsoft.com/office/drawing/2014/main" val="2405426057"/>
                    </a:ext>
                  </a:extLst>
                </a:gridCol>
                <a:gridCol w="3505200">
                  <a:extLst>
                    <a:ext uri="{9D8B030D-6E8A-4147-A177-3AD203B41FA5}">
                      <a16:colId xmlns:a16="http://schemas.microsoft.com/office/drawing/2014/main" val="1353086281"/>
                    </a:ext>
                  </a:extLst>
                </a:gridCol>
              </a:tblGrid>
              <a:tr h="548640">
                <a:tc>
                  <a:txBody>
                    <a:bodyPr/>
                    <a:lstStyle/>
                    <a:p>
                      <a:r>
                        <a:rPr lang="en-US" b="1" dirty="0"/>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b="1" dirty="0"/>
                        <a:t>Looks Like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b="1" dirty="0"/>
                        <a:t>Used For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4249811437"/>
                  </a:ext>
                </a:extLst>
              </a:tr>
              <a:tr h="548640">
                <a:tc>
                  <a:txBody>
                    <a:bodyPr/>
                    <a:lstStyle/>
                    <a:p>
                      <a:r>
                        <a:rPr lang="en-US" b="1"/>
                        <a:t>Propositional</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a:t>(W ∧ T ∧ ¬G) → 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a:t>Simple True/False conditions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2041523"/>
                  </a:ext>
                </a:extLst>
              </a:tr>
              <a:tr h="548640">
                <a:tc>
                  <a:txBody>
                    <a:bodyPr/>
                    <a:lstStyle/>
                    <a:p>
                      <a:r>
                        <a:rPr lang="en-US" b="1"/>
                        <a:t>Predicate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dirty="0"/>
                        <a:t>Weekday(x) ∧ </a:t>
                      </a:r>
                      <a:r>
                        <a:rPr lang="en-US" dirty="0" err="1"/>
                        <a:t>TimeAfter</a:t>
                      </a:r>
                      <a:r>
                        <a:rPr lang="en-US" dirty="0"/>
                        <a:t>(x, 16) → Remind(x)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r>
                        <a:rPr lang="en-US" dirty="0"/>
                        <a:t>Complex logic with variables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305801500"/>
                  </a:ext>
                </a:extLst>
              </a:tr>
            </a:tbl>
          </a:graphicData>
        </a:graphic>
      </p:graphicFrame>
    </p:spTree>
    <p:extLst>
      <p:ext uri="{BB962C8B-B14F-4D97-AF65-F5344CB8AC3E}">
        <p14:creationId xmlns:p14="http://schemas.microsoft.com/office/powerpoint/2010/main" val="2834833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0CB0E-90C2-6EC3-6788-B069667FC23C}"/>
              </a:ext>
            </a:extLst>
          </p:cNvPr>
          <p:cNvSpPr>
            <a:spLocks noGrp="1"/>
          </p:cNvSpPr>
          <p:nvPr>
            <p:ph type="title"/>
          </p:nvPr>
        </p:nvSpPr>
        <p:spPr>
          <a:xfrm>
            <a:off x="960664" y="2332718"/>
            <a:ext cx="10515600" cy="1325563"/>
          </a:xfrm>
        </p:spPr>
        <p:txBody>
          <a:bodyPr/>
          <a:lstStyle/>
          <a:p>
            <a:r>
              <a:rPr lang="en-US" dirty="0"/>
              <a:t>Knowledge Representation</a:t>
            </a:r>
          </a:p>
        </p:txBody>
      </p:sp>
    </p:spTree>
    <p:extLst>
      <p:ext uri="{BB962C8B-B14F-4D97-AF65-F5344CB8AC3E}">
        <p14:creationId xmlns:p14="http://schemas.microsoft.com/office/powerpoint/2010/main" val="17671629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A81F-7A8F-7589-D740-011AD293B6E6}"/>
              </a:ext>
            </a:extLst>
          </p:cNvPr>
          <p:cNvSpPr>
            <a:spLocks noGrp="1"/>
          </p:cNvSpPr>
          <p:nvPr>
            <p:ph type="title"/>
          </p:nvPr>
        </p:nvSpPr>
        <p:spPr/>
        <p:txBody>
          <a:bodyPr/>
          <a:lstStyle/>
          <a:p>
            <a:r>
              <a:rPr lang="en-US" dirty="0"/>
              <a:t>Ways to represent Knowledge</a:t>
            </a:r>
          </a:p>
        </p:txBody>
      </p:sp>
      <p:sp>
        <p:nvSpPr>
          <p:cNvPr id="3" name="Content Placeholder 2">
            <a:extLst>
              <a:ext uri="{FF2B5EF4-FFF2-40B4-BE49-F238E27FC236}">
                <a16:creationId xmlns:a16="http://schemas.microsoft.com/office/drawing/2014/main" id="{75D43BF2-672C-3D7B-F5CE-6A0D44997FD4}"/>
              </a:ext>
            </a:extLst>
          </p:cNvPr>
          <p:cNvSpPr>
            <a:spLocks noGrp="1"/>
          </p:cNvSpPr>
          <p:nvPr>
            <p:ph idx="1"/>
          </p:nvPr>
        </p:nvSpPr>
        <p:spPr/>
        <p:txBody>
          <a:bodyPr/>
          <a:lstStyle/>
          <a:p>
            <a:r>
              <a:rPr lang="en-US" dirty="0"/>
              <a:t>Search Tree</a:t>
            </a:r>
          </a:p>
          <a:p>
            <a:r>
              <a:rPr lang="en-US" dirty="0"/>
              <a:t>Production System</a:t>
            </a:r>
          </a:p>
          <a:p>
            <a:r>
              <a:rPr lang="en-US" dirty="0"/>
              <a:t>Objects</a:t>
            </a:r>
          </a:p>
          <a:p>
            <a:r>
              <a:rPr lang="en-US" dirty="0"/>
              <a:t>Frames</a:t>
            </a:r>
          </a:p>
          <a:p>
            <a:r>
              <a:rPr lang="en-US" dirty="0"/>
              <a:t>Scripts</a:t>
            </a:r>
          </a:p>
          <a:p>
            <a:r>
              <a:rPr lang="en-US" dirty="0"/>
              <a:t>Conceptual Dependency</a:t>
            </a:r>
          </a:p>
          <a:p>
            <a:r>
              <a:rPr lang="en-US" dirty="0"/>
              <a:t>Semantic Networks</a:t>
            </a:r>
          </a:p>
        </p:txBody>
      </p:sp>
    </p:spTree>
    <p:extLst>
      <p:ext uri="{BB962C8B-B14F-4D97-AF65-F5344CB8AC3E}">
        <p14:creationId xmlns:p14="http://schemas.microsoft.com/office/powerpoint/2010/main" val="28328018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7EA81-CD6A-019D-E239-9400826F4814}"/>
              </a:ext>
            </a:extLst>
          </p:cNvPr>
          <p:cNvSpPr>
            <a:spLocks noGrp="1"/>
          </p:cNvSpPr>
          <p:nvPr>
            <p:ph type="title"/>
          </p:nvPr>
        </p:nvSpPr>
        <p:spPr/>
        <p:txBody>
          <a:bodyPr/>
          <a:lstStyle/>
          <a:p>
            <a:r>
              <a:rPr lang="en-US" b="1" i="0" dirty="0">
                <a:effectLst/>
                <a:latin typeface="Nunito" pitchFamily="2" charset="0"/>
              </a:rPr>
              <a:t>Production System in AI</a:t>
            </a:r>
            <a:endParaRPr lang="en-US" dirty="0"/>
          </a:p>
        </p:txBody>
      </p:sp>
      <p:sp>
        <p:nvSpPr>
          <p:cNvPr id="3" name="Content Placeholder 2">
            <a:extLst>
              <a:ext uri="{FF2B5EF4-FFF2-40B4-BE49-F238E27FC236}">
                <a16:creationId xmlns:a16="http://schemas.microsoft.com/office/drawing/2014/main" id="{55694314-DAD5-BEF3-7723-2B022D00DC1C}"/>
              </a:ext>
            </a:extLst>
          </p:cNvPr>
          <p:cNvSpPr>
            <a:spLocks noGrp="1"/>
          </p:cNvSpPr>
          <p:nvPr>
            <p:ph idx="1"/>
          </p:nvPr>
        </p:nvSpPr>
        <p:spPr/>
        <p:txBody>
          <a:bodyPr/>
          <a:lstStyle/>
          <a:p>
            <a:pPr marL="0" indent="0">
              <a:lnSpc>
                <a:spcPct val="150000"/>
              </a:lnSpc>
              <a:buNone/>
            </a:pPr>
            <a:r>
              <a:rPr lang="en-US" b="0" i="0" dirty="0">
                <a:effectLst/>
                <a:latin typeface="Nunito" pitchFamily="2" charset="0"/>
              </a:rPr>
              <a:t>In artificial intelligence (AI), a </a:t>
            </a:r>
            <a:r>
              <a:rPr lang="en-US" b="1" i="0" dirty="0">
                <a:effectLst/>
                <a:latin typeface="Nunito" pitchFamily="2" charset="0"/>
              </a:rPr>
              <a:t>production system </a:t>
            </a:r>
            <a:r>
              <a:rPr lang="en-US" b="0" i="0" dirty="0">
                <a:effectLst/>
                <a:latin typeface="Nunito" pitchFamily="2" charset="0"/>
              </a:rPr>
              <a:t>refers to a type of rule-based system that is designed to provide a structured approach to problem solving and decision-making. This framework is particularly influential in the realm of expert systems, where it simulates human decision-making processes using a set of predefined </a:t>
            </a:r>
            <a:r>
              <a:rPr lang="en-US" dirty="0">
                <a:latin typeface="Nunito" pitchFamily="2" charset="0"/>
              </a:rPr>
              <a:t>rules and facts.</a:t>
            </a:r>
          </a:p>
        </p:txBody>
      </p:sp>
    </p:spTree>
    <p:extLst>
      <p:ext uri="{BB962C8B-B14F-4D97-AF65-F5344CB8AC3E}">
        <p14:creationId xmlns:p14="http://schemas.microsoft.com/office/powerpoint/2010/main" val="706600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01073-2D29-D670-677D-D84F0EBF67E9}"/>
              </a:ext>
            </a:extLst>
          </p:cNvPr>
          <p:cNvSpPr>
            <a:spLocks noGrp="1"/>
          </p:cNvSpPr>
          <p:nvPr>
            <p:ph type="title"/>
          </p:nvPr>
        </p:nvSpPr>
        <p:spPr/>
        <p:txBody>
          <a:bodyPr/>
          <a:lstStyle/>
          <a:p>
            <a:r>
              <a:rPr lang="en-US" dirty="0"/>
              <a:t>What is a Production System in AI?</a:t>
            </a:r>
          </a:p>
        </p:txBody>
      </p:sp>
      <p:sp>
        <p:nvSpPr>
          <p:cNvPr id="3" name="Content Placeholder 2">
            <a:extLst>
              <a:ext uri="{FF2B5EF4-FFF2-40B4-BE49-F238E27FC236}">
                <a16:creationId xmlns:a16="http://schemas.microsoft.com/office/drawing/2014/main" id="{943554ED-27C8-059E-AECD-9D53841094DC}"/>
              </a:ext>
            </a:extLst>
          </p:cNvPr>
          <p:cNvSpPr>
            <a:spLocks noGrp="1"/>
          </p:cNvSpPr>
          <p:nvPr>
            <p:ph idx="1"/>
          </p:nvPr>
        </p:nvSpPr>
        <p:spPr/>
        <p:txBody>
          <a:bodyPr/>
          <a:lstStyle/>
          <a:p>
            <a:pPr marL="0" indent="0">
              <a:lnSpc>
                <a:spcPct val="150000"/>
              </a:lnSpc>
              <a:buNone/>
            </a:pPr>
            <a:r>
              <a:rPr lang="en-US" dirty="0"/>
              <a:t>A </a:t>
            </a:r>
            <a:r>
              <a:rPr lang="en-US" b="1" dirty="0"/>
              <a:t>Production System</a:t>
            </a:r>
            <a:r>
              <a:rPr lang="en-US" dirty="0"/>
              <a:t> is a way for AI to </a:t>
            </a:r>
            <a:r>
              <a:rPr lang="en-US" b="1" dirty="0"/>
              <a:t>make decisions</a:t>
            </a:r>
            <a:r>
              <a:rPr lang="en-US" dirty="0"/>
              <a:t> and </a:t>
            </a:r>
            <a:r>
              <a:rPr lang="en-US" b="1" dirty="0"/>
              <a:t>solve problems</a:t>
            </a:r>
            <a:r>
              <a:rPr lang="en-US" dirty="0"/>
              <a:t> using:</a:t>
            </a:r>
          </a:p>
          <a:p>
            <a:pPr marL="0" indent="0">
              <a:lnSpc>
                <a:spcPct val="150000"/>
              </a:lnSpc>
              <a:buNone/>
            </a:pPr>
            <a:endParaRPr lang="en-US" dirty="0"/>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Rules</a:t>
            </a:r>
            <a:r>
              <a:rPr kumimoji="0" lang="en-US" altLang="en-US" sz="2800" b="0" i="0" u="none" strike="noStrike" cap="none" normalizeH="0" baseline="0" dirty="0">
                <a:ln>
                  <a:noFill/>
                </a:ln>
                <a:solidFill>
                  <a:schemeClr val="tx1"/>
                </a:solidFill>
                <a:effectLst/>
                <a:latin typeface="Arial" panose="020B0604020202020204" pitchFamily="34" charset="0"/>
              </a:rPr>
              <a:t> (IF–THEN)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Facts</a:t>
            </a:r>
            <a:r>
              <a:rPr kumimoji="0" lang="en-US" altLang="en-US" sz="2800" b="0" i="0" u="none" strike="noStrike" cap="none" normalizeH="0" baseline="0" dirty="0">
                <a:ln>
                  <a:noFill/>
                </a:ln>
                <a:solidFill>
                  <a:schemeClr val="tx1"/>
                </a:solidFill>
                <a:effectLst/>
                <a:latin typeface="Arial" panose="020B0604020202020204" pitchFamily="34" charset="0"/>
              </a:rPr>
              <a:t> (What we currently know)</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Inference Engine</a:t>
            </a:r>
            <a:r>
              <a:rPr kumimoji="0" lang="en-US" altLang="en-US" sz="2800" b="0" i="0" u="none" strike="noStrike" cap="none" normalizeH="0" baseline="0" dirty="0">
                <a:ln>
                  <a:noFill/>
                </a:ln>
                <a:solidFill>
                  <a:schemeClr val="tx1"/>
                </a:solidFill>
                <a:effectLst/>
                <a:latin typeface="Arial" panose="020B0604020202020204" pitchFamily="34" charset="0"/>
              </a:rPr>
              <a:t> (The decision-maker)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3135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013CF1D-FF8A-D794-3456-F54BFAF6032C}"/>
              </a:ext>
            </a:extLst>
          </p:cNvPr>
          <p:cNvSpPr/>
          <p:nvPr/>
        </p:nvSpPr>
        <p:spPr>
          <a:xfrm>
            <a:off x="2590800" y="1943100"/>
            <a:ext cx="2432957" cy="612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Rule base</a:t>
            </a:r>
          </a:p>
        </p:txBody>
      </p:sp>
      <p:sp>
        <p:nvSpPr>
          <p:cNvPr id="5" name="Rectangle 4">
            <a:extLst>
              <a:ext uri="{FF2B5EF4-FFF2-40B4-BE49-F238E27FC236}">
                <a16:creationId xmlns:a16="http://schemas.microsoft.com/office/drawing/2014/main" id="{E5CDD8FF-9072-BD5D-E3D3-9E37118EDD92}"/>
              </a:ext>
            </a:extLst>
          </p:cNvPr>
          <p:cNvSpPr/>
          <p:nvPr/>
        </p:nvSpPr>
        <p:spPr>
          <a:xfrm>
            <a:off x="2590798" y="3546021"/>
            <a:ext cx="2432957" cy="612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Working Memory</a:t>
            </a:r>
          </a:p>
        </p:txBody>
      </p:sp>
      <p:sp>
        <p:nvSpPr>
          <p:cNvPr id="6" name="Rectangle 5">
            <a:extLst>
              <a:ext uri="{FF2B5EF4-FFF2-40B4-BE49-F238E27FC236}">
                <a16:creationId xmlns:a16="http://schemas.microsoft.com/office/drawing/2014/main" id="{239ED8C7-159A-BAE9-B237-1C75BC653FC0}"/>
              </a:ext>
            </a:extLst>
          </p:cNvPr>
          <p:cNvSpPr/>
          <p:nvPr/>
        </p:nvSpPr>
        <p:spPr>
          <a:xfrm>
            <a:off x="2590799" y="5148943"/>
            <a:ext cx="2432957" cy="6123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Inference Engine</a:t>
            </a:r>
          </a:p>
        </p:txBody>
      </p:sp>
      <p:cxnSp>
        <p:nvCxnSpPr>
          <p:cNvPr id="8" name="Straight Arrow Connector 7">
            <a:extLst>
              <a:ext uri="{FF2B5EF4-FFF2-40B4-BE49-F238E27FC236}">
                <a16:creationId xmlns:a16="http://schemas.microsoft.com/office/drawing/2014/main" id="{C0A7B076-4A36-7F65-7D5F-196C6A367A5A}"/>
              </a:ext>
            </a:extLst>
          </p:cNvPr>
          <p:cNvCxnSpPr>
            <a:stCxn id="4" idx="2"/>
            <a:endCxn id="5" idx="0"/>
          </p:cNvCxnSpPr>
          <p:nvPr/>
        </p:nvCxnSpPr>
        <p:spPr>
          <a:xfrm flipH="1">
            <a:off x="3807277" y="2555421"/>
            <a:ext cx="2" cy="990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5CAF856F-0AA1-DC67-1D04-3F12E90BD501}"/>
              </a:ext>
            </a:extLst>
          </p:cNvPr>
          <p:cNvCxnSpPr/>
          <p:nvPr/>
        </p:nvCxnSpPr>
        <p:spPr>
          <a:xfrm flipH="1">
            <a:off x="3807276" y="4158342"/>
            <a:ext cx="2" cy="99060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5B830AD7-9F5C-6B44-62D5-7E9E64E235C1}"/>
              </a:ext>
            </a:extLst>
          </p:cNvPr>
          <p:cNvCxnSpPr>
            <a:cxnSpLocks/>
          </p:cNvCxnSpPr>
          <p:nvPr/>
        </p:nvCxnSpPr>
        <p:spPr>
          <a:xfrm>
            <a:off x="5135337" y="2249260"/>
            <a:ext cx="925284" cy="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015BC541-BDED-0D2A-5D62-B5517AA04D3C}"/>
              </a:ext>
            </a:extLst>
          </p:cNvPr>
          <p:cNvCxnSpPr>
            <a:cxnSpLocks/>
          </p:cNvCxnSpPr>
          <p:nvPr/>
        </p:nvCxnSpPr>
        <p:spPr>
          <a:xfrm>
            <a:off x="5135337" y="3812720"/>
            <a:ext cx="925284" cy="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9882ED0C-EB97-4568-B479-6871EBDCD3C0}"/>
              </a:ext>
            </a:extLst>
          </p:cNvPr>
          <p:cNvCxnSpPr>
            <a:cxnSpLocks/>
          </p:cNvCxnSpPr>
          <p:nvPr/>
        </p:nvCxnSpPr>
        <p:spPr>
          <a:xfrm>
            <a:off x="5135337" y="5468709"/>
            <a:ext cx="925284" cy="0"/>
          </a:xfrm>
          <a:prstGeom prst="straightConnector1">
            <a:avLst/>
          </a:prstGeom>
          <a:ln>
            <a:prstDash val="sys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1679F5C-AAD5-31C6-FC57-8B3634F99291}"/>
              </a:ext>
            </a:extLst>
          </p:cNvPr>
          <p:cNvSpPr txBox="1"/>
          <p:nvPr/>
        </p:nvSpPr>
        <p:spPr>
          <a:xfrm>
            <a:off x="6060621" y="2064356"/>
            <a:ext cx="2785506" cy="369332"/>
          </a:xfrm>
          <a:prstGeom prst="rect">
            <a:avLst/>
          </a:prstGeom>
          <a:noFill/>
        </p:spPr>
        <p:txBody>
          <a:bodyPr wrap="none" rtlCol="0">
            <a:spAutoFit/>
          </a:bodyPr>
          <a:lstStyle/>
          <a:p>
            <a:r>
              <a:rPr lang="en-US" dirty="0"/>
              <a:t>(Contains IF---THEN rules)</a:t>
            </a:r>
          </a:p>
        </p:txBody>
      </p:sp>
      <p:sp>
        <p:nvSpPr>
          <p:cNvPr id="15" name="TextBox 14">
            <a:extLst>
              <a:ext uri="{FF2B5EF4-FFF2-40B4-BE49-F238E27FC236}">
                <a16:creationId xmlns:a16="http://schemas.microsoft.com/office/drawing/2014/main" id="{A15AD37C-51CD-EC75-395A-B6AD7CA752B1}"/>
              </a:ext>
            </a:extLst>
          </p:cNvPr>
          <p:cNvSpPr txBox="1"/>
          <p:nvPr/>
        </p:nvSpPr>
        <p:spPr>
          <a:xfrm>
            <a:off x="6172203" y="3628054"/>
            <a:ext cx="2795509" cy="369332"/>
          </a:xfrm>
          <a:prstGeom prst="rect">
            <a:avLst/>
          </a:prstGeom>
          <a:noFill/>
        </p:spPr>
        <p:txBody>
          <a:bodyPr wrap="none" rtlCol="0">
            <a:spAutoFit/>
          </a:bodyPr>
          <a:lstStyle/>
          <a:p>
            <a:r>
              <a:rPr lang="en-US" dirty="0"/>
              <a:t>(Current facts/Knowledge)</a:t>
            </a:r>
          </a:p>
        </p:txBody>
      </p:sp>
      <p:sp>
        <p:nvSpPr>
          <p:cNvPr id="16" name="TextBox 15">
            <a:extLst>
              <a:ext uri="{FF2B5EF4-FFF2-40B4-BE49-F238E27FC236}">
                <a16:creationId xmlns:a16="http://schemas.microsoft.com/office/drawing/2014/main" id="{6CF317DE-4E55-F5EA-87A4-9C9F95BADD8D}"/>
              </a:ext>
            </a:extLst>
          </p:cNvPr>
          <p:cNvSpPr txBox="1"/>
          <p:nvPr/>
        </p:nvSpPr>
        <p:spPr>
          <a:xfrm>
            <a:off x="6248403" y="5279962"/>
            <a:ext cx="4558748" cy="369332"/>
          </a:xfrm>
          <a:prstGeom prst="rect">
            <a:avLst/>
          </a:prstGeom>
          <a:noFill/>
        </p:spPr>
        <p:txBody>
          <a:bodyPr wrap="none" rtlCol="0">
            <a:spAutoFit/>
          </a:bodyPr>
          <a:lstStyle/>
          <a:p>
            <a:r>
              <a:rPr lang="en-US" dirty="0"/>
              <a:t>(Matches facts with rules &amp; decides actions)</a:t>
            </a:r>
          </a:p>
        </p:txBody>
      </p:sp>
      <p:sp>
        <p:nvSpPr>
          <p:cNvPr id="17" name="Rectangle 1">
            <a:extLst>
              <a:ext uri="{FF2B5EF4-FFF2-40B4-BE49-F238E27FC236}">
                <a16:creationId xmlns:a16="http://schemas.microsoft.com/office/drawing/2014/main" id="{E4EFB600-E72E-42D7-F3C0-7668F8717B21}"/>
              </a:ext>
            </a:extLst>
          </p:cNvPr>
          <p:cNvSpPr>
            <a:spLocks noGrp="1" noChangeArrowheads="1"/>
          </p:cNvSpPr>
          <p:nvPr>
            <p:ph type="title"/>
          </p:nvPr>
        </p:nvSpPr>
        <p:spPr bwMode="auto">
          <a:xfrm>
            <a:off x="838200" y="643186"/>
            <a:ext cx="890019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Nunito" pitchFamily="2" charset="0"/>
              </a:rPr>
              <a:t>Structure of a Production System</a:t>
            </a:r>
          </a:p>
        </p:txBody>
      </p:sp>
    </p:spTree>
    <p:extLst>
      <p:ext uri="{BB962C8B-B14F-4D97-AF65-F5344CB8AC3E}">
        <p14:creationId xmlns:p14="http://schemas.microsoft.com/office/powerpoint/2010/main" val="7732774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43C2C-4F4C-E841-6242-802FD8E5BBAD}"/>
              </a:ext>
            </a:extLst>
          </p:cNvPr>
          <p:cNvSpPr>
            <a:spLocks noGrp="1"/>
          </p:cNvSpPr>
          <p:nvPr>
            <p:ph type="title"/>
          </p:nvPr>
        </p:nvSpPr>
        <p:spPr/>
        <p:txBody>
          <a:bodyPr>
            <a:normAutofit/>
          </a:bodyPr>
          <a:lstStyle/>
          <a:p>
            <a:r>
              <a:rPr lang="en-US" sz="3600" b="1" i="0" dirty="0">
                <a:effectLst/>
                <a:latin typeface="Nunito" pitchFamily="2" charset="0"/>
              </a:rPr>
              <a:t>Key Components of a Production System in AI</a:t>
            </a:r>
            <a:endParaRPr lang="en-US" sz="3600" dirty="0"/>
          </a:p>
        </p:txBody>
      </p:sp>
      <p:sp>
        <p:nvSpPr>
          <p:cNvPr id="3" name="Content Placeholder 2">
            <a:extLst>
              <a:ext uri="{FF2B5EF4-FFF2-40B4-BE49-F238E27FC236}">
                <a16:creationId xmlns:a16="http://schemas.microsoft.com/office/drawing/2014/main" id="{73A81FE3-9121-5856-DF23-1912DBD4E8FB}"/>
              </a:ext>
            </a:extLst>
          </p:cNvPr>
          <p:cNvSpPr>
            <a:spLocks noGrp="1"/>
          </p:cNvSpPr>
          <p:nvPr>
            <p:ph idx="1"/>
          </p:nvPr>
        </p:nvSpPr>
        <p:spPr/>
        <p:txBody>
          <a:bodyPr/>
          <a:lstStyle/>
          <a:p>
            <a:pPr algn="l" fontAlgn="base">
              <a:spcAft>
                <a:spcPts val="1800"/>
              </a:spcAft>
              <a:buFont typeface="+mj-lt"/>
              <a:buAutoNum type="arabicPeriod"/>
            </a:pPr>
            <a:r>
              <a:rPr lang="en-US" b="1" i="0" dirty="0">
                <a:effectLst/>
                <a:latin typeface="Nunito" pitchFamily="2" charset="0"/>
              </a:rPr>
              <a:t>Knowledge Base</a:t>
            </a:r>
            <a:r>
              <a:rPr lang="en-US" b="0" i="0" dirty="0">
                <a:effectLst/>
                <a:latin typeface="Nunito" pitchFamily="2" charset="0"/>
              </a:rPr>
              <a:t>: This is the core repository where all the rules and facts are stored. In AI, the knowledge base is critical as it contains the domain-specific information and the if-then rules that dictate how decisions are made or actions are taken.</a:t>
            </a:r>
          </a:p>
          <a:p>
            <a:pPr algn="l" fontAlgn="base">
              <a:spcAft>
                <a:spcPts val="1800"/>
              </a:spcAft>
              <a:buFont typeface="+mj-lt"/>
              <a:buAutoNum type="arabicPeriod" startAt="2"/>
            </a:pPr>
            <a:r>
              <a:rPr lang="en-US" b="1" i="0" dirty="0">
                <a:effectLst/>
                <a:latin typeface="Nunito" pitchFamily="2" charset="0"/>
              </a:rPr>
              <a:t>Inference Engine</a:t>
            </a:r>
            <a:r>
              <a:rPr lang="en-US" b="0" i="0" dirty="0">
                <a:effectLst/>
                <a:latin typeface="Nunito" pitchFamily="2" charset="0"/>
              </a:rPr>
              <a:t>: The inference engine is the mechanism that applies the rules to the known facts to derive new facts or to make decisions. It scans the rules and decides which ones are applicable based on the current facts in the working memory. </a:t>
            </a:r>
          </a:p>
          <a:p>
            <a:endParaRPr lang="en-US" dirty="0"/>
          </a:p>
        </p:txBody>
      </p:sp>
    </p:spTree>
    <p:extLst>
      <p:ext uri="{BB962C8B-B14F-4D97-AF65-F5344CB8AC3E}">
        <p14:creationId xmlns:p14="http://schemas.microsoft.com/office/powerpoint/2010/main" val="3783940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983D-2845-AD3C-2FEA-F8C7204386E1}"/>
              </a:ext>
            </a:extLst>
          </p:cNvPr>
          <p:cNvSpPr>
            <a:spLocks noGrp="1"/>
          </p:cNvSpPr>
          <p:nvPr>
            <p:ph type="title"/>
          </p:nvPr>
        </p:nvSpPr>
        <p:spPr/>
        <p:txBody>
          <a:bodyPr>
            <a:normAutofit/>
          </a:bodyPr>
          <a:lstStyle/>
          <a:p>
            <a:r>
              <a:rPr lang="en-US" sz="3600" b="1" i="0" dirty="0">
                <a:effectLst/>
                <a:latin typeface="Nunito" pitchFamily="2" charset="0"/>
              </a:rPr>
              <a:t>Key Components of a Production System in AI</a:t>
            </a:r>
            <a:endParaRPr lang="en-US" sz="3600" dirty="0"/>
          </a:p>
        </p:txBody>
      </p:sp>
      <p:sp>
        <p:nvSpPr>
          <p:cNvPr id="3" name="Content Placeholder 2">
            <a:extLst>
              <a:ext uri="{FF2B5EF4-FFF2-40B4-BE49-F238E27FC236}">
                <a16:creationId xmlns:a16="http://schemas.microsoft.com/office/drawing/2014/main" id="{BE14A308-028E-B5E7-19E1-32D06C9594EF}"/>
              </a:ext>
            </a:extLst>
          </p:cNvPr>
          <p:cNvSpPr>
            <a:spLocks noGrp="1"/>
          </p:cNvSpPr>
          <p:nvPr>
            <p:ph idx="1"/>
          </p:nvPr>
        </p:nvSpPr>
        <p:spPr/>
        <p:txBody>
          <a:bodyPr>
            <a:normAutofit lnSpcReduction="10000"/>
          </a:bodyPr>
          <a:lstStyle/>
          <a:p>
            <a:pPr algn="l" fontAlgn="base">
              <a:spcAft>
                <a:spcPts val="1800"/>
              </a:spcAft>
              <a:buFont typeface="+mj-lt"/>
              <a:buAutoNum type="arabicPeriod" startAt="3"/>
            </a:pPr>
            <a:r>
              <a:rPr lang="en-US" b="1" i="0" dirty="0">
                <a:effectLst/>
                <a:latin typeface="Nunito" pitchFamily="2" charset="0"/>
              </a:rPr>
              <a:t>Working Memory</a:t>
            </a:r>
            <a:r>
              <a:rPr lang="en-US" b="0" i="0" dirty="0">
                <a:effectLst/>
                <a:latin typeface="Nunito" pitchFamily="2" charset="0"/>
              </a:rPr>
              <a:t>: Sometimes referred to as the fact list, working memory holds the dynamic information that changes as the system operates. It represents the current state of knowledge, including facts that are initially known and those that are deduced throughout the operation of the system.</a:t>
            </a:r>
          </a:p>
          <a:p>
            <a:pPr algn="l" fontAlgn="base">
              <a:spcAft>
                <a:spcPts val="1800"/>
              </a:spcAft>
              <a:buFont typeface="+mj-lt"/>
              <a:buAutoNum type="arabicPeriod" startAt="4"/>
            </a:pPr>
            <a:r>
              <a:rPr lang="en-US" b="1" i="0" dirty="0">
                <a:effectLst/>
                <a:latin typeface="Nunito" pitchFamily="2" charset="0"/>
              </a:rPr>
              <a:t>Control Mechanism</a:t>
            </a:r>
            <a:r>
              <a:rPr lang="en-US" b="0" i="0" dirty="0">
                <a:effectLst/>
                <a:latin typeface="Nunito" pitchFamily="2" charset="0"/>
              </a:rPr>
              <a:t>: This governs the order in which rules are applied by the inference engine and manages the flow of the process. It ensures that the system responds appropriately to changes in the working memory and applies rules effectively to reach conclusions or solutions.</a:t>
            </a:r>
          </a:p>
          <a:p>
            <a:endParaRPr lang="en-US" dirty="0"/>
          </a:p>
        </p:txBody>
      </p:sp>
    </p:spTree>
    <p:extLst>
      <p:ext uri="{BB962C8B-B14F-4D97-AF65-F5344CB8AC3E}">
        <p14:creationId xmlns:p14="http://schemas.microsoft.com/office/powerpoint/2010/main" val="1876278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FB60-693D-5449-5D29-5B7276200EFE}"/>
              </a:ext>
            </a:extLst>
          </p:cNvPr>
          <p:cNvSpPr>
            <a:spLocks noGrp="1"/>
          </p:cNvSpPr>
          <p:nvPr>
            <p:ph type="title"/>
          </p:nvPr>
        </p:nvSpPr>
        <p:spPr/>
        <p:txBody>
          <a:bodyPr/>
          <a:lstStyle/>
          <a:p>
            <a:r>
              <a:rPr lang="en-US" dirty="0"/>
              <a:t>Example: Doctor Diagnosis</a:t>
            </a:r>
          </a:p>
        </p:txBody>
      </p:sp>
      <p:sp>
        <p:nvSpPr>
          <p:cNvPr id="3" name="Content Placeholder 2">
            <a:extLst>
              <a:ext uri="{FF2B5EF4-FFF2-40B4-BE49-F238E27FC236}">
                <a16:creationId xmlns:a16="http://schemas.microsoft.com/office/drawing/2014/main" id="{08732213-5290-B4DA-0DCC-5CD0B58EC99A}"/>
              </a:ext>
            </a:extLst>
          </p:cNvPr>
          <p:cNvSpPr>
            <a:spLocks noGrp="1"/>
          </p:cNvSpPr>
          <p:nvPr>
            <p:ph idx="1"/>
          </p:nvPr>
        </p:nvSpPr>
        <p:spPr/>
        <p:txBody>
          <a:bodyPr/>
          <a:lstStyle/>
          <a:p>
            <a:pPr>
              <a:buNone/>
            </a:pPr>
            <a:r>
              <a:rPr lang="en-US" b="1" dirty="0"/>
              <a:t>Rules (Production Rules):</a:t>
            </a:r>
          </a:p>
          <a:p>
            <a:pPr>
              <a:lnSpc>
                <a:spcPct val="100000"/>
              </a:lnSpc>
              <a:buFont typeface="Arial" panose="020B0604020202020204" pitchFamily="34" charset="0"/>
              <a:buChar char="•"/>
            </a:pPr>
            <a:r>
              <a:rPr lang="en-US" b="1" dirty="0"/>
              <a:t>R1</a:t>
            </a:r>
            <a:r>
              <a:rPr lang="en-US" dirty="0"/>
              <a:t>: IF fever AND cough → THEN possible flu</a:t>
            </a:r>
          </a:p>
          <a:p>
            <a:pPr>
              <a:lnSpc>
                <a:spcPct val="100000"/>
              </a:lnSpc>
              <a:buFont typeface="Arial" panose="020B0604020202020204" pitchFamily="34" charset="0"/>
              <a:buChar char="•"/>
            </a:pPr>
            <a:r>
              <a:rPr lang="en-US" b="1" dirty="0"/>
              <a:t>R2</a:t>
            </a:r>
            <a:r>
              <a:rPr lang="en-US" dirty="0"/>
              <a:t>: IF sore throat → THEN recommend warm tea</a:t>
            </a:r>
          </a:p>
          <a:p>
            <a:pPr>
              <a:lnSpc>
                <a:spcPct val="100000"/>
              </a:lnSpc>
              <a:buFont typeface="Arial" panose="020B0604020202020204" pitchFamily="34" charset="0"/>
              <a:buChar char="•"/>
            </a:pPr>
            <a:r>
              <a:rPr lang="en-US" b="1" dirty="0"/>
              <a:t>R3</a:t>
            </a:r>
            <a:r>
              <a:rPr lang="en-US" dirty="0"/>
              <a:t>: IF flu → THEN prescribe rest</a:t>
            </a:r>
          </a:p>
          <a:p>
            <a:pPr>
              <a:lnSpc>
                <a:spcPct val="100000"/>
              </a:lnSpc>
              <a:buNone/>
            </a:pPr>
            <a:r>
              <a:rPr lang="en-US" b="1" dirty="0"/>
              <a:t>Working Memory:</a:t>
            </a:r>
          </a:p>
          <a:p>
            <a:pPr>
              <a:lnSpc>
                <a:spcPct val="100000"/>
              </a:lnSpc>
              <a:buFont typeface="Arial" panose="020B0604020202020204" pitchFamily="34" charset="0"/>
              <a:buChar char="•"/>
            </a:pPr>
            <a:r>
              <a:rPr lang="en-US" dirty="0"/>
              <a:t>Patient has fever </a:t>
            </a:r>
          </a:p>
          <a:p>
            <a:pPr>
              <a:lnSpc>
                <a:spcPct val="100000"/>
              </a:lnSpc>
              <a:buFont typeface="Arial" panose="020B0604020202020204" pitchFamily="34" charset="0"/>
              <a:buChar char="•"/>
            </a:pPr>
            <a:r>
              <a:rPr lang="en-US" dirty="0"/>
              <a:t>Patient has cough </a:t>
            </a:r>
          </a:p>
          <a:p>
            <a:pPr>
              <a:lnSpc>
                <a:spcPct val="150000"/>
              </a:lnSpc>
              <a:buFont typeface="Arial" panose="020B0604020202020204" pitchFamily="34" charset="0"/>
              <a:buChar char="•"/>
            </a:pPr>
            <a:endParaRPr lang="en-US" dirty="0"/>
          </a:p>
          <a:p>
            <a:pPr marL="0" indent="0">
              <a:buNone/>
            </a:pPr>
            <a:endParaRPr lang="en-US" dirty="0"/>
          </a:p>
        </p:txBody>
      </p:sp>
    </p:spTree>
    <p:extLst>
      <p:ext uri="{BB962C8B-B14F-4D97-AF65-F5344CB8AC3E}">
        <p14:creationId xmlns:p14="http://schemas.microsoft.com/office/powerpoint/2010/main" val="1533602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590F1-00B1-C261-F89A-D9C75A3F139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3662B8-574E-DB63-685C-7029A090E8E4}"/>
              </a:ext>
            </a:extLst>
          </p:cNvPr>
          <p:cNvSpPr>
            <a:spLocks noGrp="1"/>
          </p:cNvSpPr>
          <p:nvPr>
            <p:ph idx="1"/>
          </p:nvPr>
        </p:nvSpPr>
        <p:spPr/>
        <p:txBody>
          <a:bodyPr/>
          <a:lstStyle/>
          <a:p>
            <a:pPr>
              <a:buNone/>
            </a:pPr>
            <a:r>
              <a:rPr lang="en-US" b="1" dirty="0"/>
              <a:t>What happens?</a:t>
            </a:r>
          </a:p>
          <a:p>
            <a:pPr>
              <a:buFont typeface="Arial" panose="020B0604020202020204" pitchFamily="34" charset="0"/>
              <a:buChar char="•"/>
            </a:pPr>
            <a:r>
              <a:rPr lang="en-US" dirty="0"/>
              <a:t>Rule R1 is triggered → Adds “possible flu” to memory</a:t>
            </a:r>
          </a:p>
          <a:p>
            <a:pPr>
              <a:buFont typeface="Arial" panose="020B0604020202020204" pitchFamily="34" charset="0"/>
              <a:buChar char="•"/>
            </a:pPr>
            <a:r>
              <a:rPr lang="en-US" dirty="0"/>
              <a:t>Then R3 is triggered → “Prescribe rest” 🛌</a:t>
            </a:r>
          </a:p>
          <a:p>
            <a:pPr marL="0" indent="0">
              <a:buNone/>
            </a:pPr>
            <a:endParaRPr lang="en-US" dirty="0"/>
          </a:p>
        </p:txBody>
      </p:sp>
    </p:spTree>
    <p:extLst>
      <p:ext uri="{BB962C8B-B14F-4D97-AF65-F5344CB8AC3E}">
        <p14:creationId xmlns:p14="http://schemas.microsoft.com/office/powerpoint/2010/main" val="24241040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C4F0A-3A38-4396-0DF3-8951D9AB56E7}"/>
              </a:ext>
            </a:extLst>
          </p:cNvPr>
          <p:cNvSpPr>
            <a:spLocks noGrp="1"/>
          </p:cNvSpPr>
          <p:nvPr>
            <p:ph type="title"/>
          </p:nvPr>
        </p:nvSpPr>
        <p:spPr/>
        <p:txBody>
          <a:bodyPr/>
          <a:lstStyle/>
          <a:p>
            <a:r>
              <a:rPr lang="en-US" dirty="0"/>
              <a:t>Mini Production System</a:t>
            </a:r>
          </a:p>
        </p:txBody>
      </p:sp>
      <p:sp>
        <p:nvSpPr>
          <p:cNvPr id="3" name="Content Placeholder 2">
            <a:extLst>
              <a:ext uri="{FF2B5EF4-FFF2-40B4-BE49-F238E27FC236}">
                <a16:creationId xmlns:a16="http://schemas.microsoft.com/office/drawing/2014/main" id="{D8508C85-9CCF-FDF8-3186-8855786DB933}"/>
              </a:ext>
            </a:extLst>
          </p:cNvPr>
          <p:cNvSpPr>
            <a:spLocks noGrp="1"/>
          </p:cNvSpPr>
          <p:nvPr>
            <p:ph idx="1"/>
          </p:nvPr>
        </p:nvSpPr>
        <p:spPr/>
        <p:txBody>
          <a:bodyPr/>
          <a:lstStyle/>
          <a:p>
            <a:r>
              <a:rPr lang="en-US" dirty="0"/>
              <a:t>Run: Voice-Based Expert System (Doctor Bot)</a:t>
            </a:r>
          </a:p>
        </p:txBody>
      </p:sp>
    </p:spTree>
    <p:extLst>
      <p:ext uri="{BB962C8B-B14F-4D97-AF65-F5344CB8AC3E}">
        <p14:creationId xmlns:p14="http://schemas.microsoft.com/office/powerpoint/2010/main" val="3216017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A64C8-5FF9-064C-1E73-52602251C707}"/>
              </a:ext>
            </a:extLst>
          </p:cNvPr>
          <p:cNvSpPr>
            <a:spLocks noGrp="1"/>
          </p:cNvSpPr>
          <p:nvPr>
            <p:ph type="title"/>
          </p:nvPr>
        </p:nvSpPr>
        <p:spPr/>
        <p:txBody>
          <a:bodyPr/>
          <a:lstStyle/>
          <a:p>
            <a:r>
              <a:rPr lang="en-US" dirty="0"/>
              <a:t>Production System: Strong Methods</a:t>
            </a:r>
          </a:p>
        </p:txBody>
      </p:sp>
      <p:sp>
        <p:nvSpPr>
          <p:cNvPr id="3" name="Content Placeholder 2">
            <a:extLst>
              <a:ext uri="{FF2B5EF4-FFF2-40B4-BE49-F238E27FC236}">
                <a16:creationId xmlns:a16="http://schemas.microsoft.com/office/drawing/2014/main" id="{631645EC-3B00-E5A7-16EB-3F6ED3D36906}"/>
              </a:ext>
            </a:extLst>
          </p:cNvPr>
          <p:cNvSpPr>
            <a:spLocks noGrp="1"/>
          </p:cNvSpPr>
          <p:nvPr>
            <p:ph idx="1"/>
          </p:nvPr>
        </p:nvSpPr>
        <p:spPr/>
        <p:txBody>
          <a:bodyPr/>
          <a:lstStyle/>
          <a:p>
            <a:pPr marL="0" indent="0">
              <a:lnSpc>
                <a:spcPct val="150000"/>
              </a:lnSpc>
              <a:buNone/>
            </a:pPr>
            <a:r>
              <a:rPr lang="en-US" b="0" i="0" dirty="0">
                <a:effectLst/>
                <a:latin typeface="Google Sans"/>
              </a:rPr>
              <a:t>These methods are characterized by their deep and specific knowledge within a particular domain. They often employ expert systems, which use a set of rules and facts to solve problems in that domain. For example, a medical diagnosis system might use a strong method, with a vast database of symptoms, diseases, and diagnostic tests, to arrive at a diagnosis. </a:t>
            </a:r>
            <a:endParaRPr lang="en-US" dirty="0"/>
          </a:p>
        </p:txBody>
      </p:sp>
    </p:spTree>
    <p:extLst>
      <p:ext uri="{BB962C8B-B14F-4D97-AF65-F5344CB8AC3E}">
        <p14:creationId xmlns:p14="http://schemas.microsoft.com/office/powerpoint/2010/main" val="32168724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CDA5F-5D8F-C807-D3D5-2C57CC068013}"/>
              </a:ext>
            </a:extLst>
          </p:cNvPr>
          <p:cNvSpPr>
            <a:spLocks noGrp="1"/>
          </p:cNvSpPr>
          <p:nvPr>
            <p:ph type="title"/>
          </p:nvPr>
        </p:nvSpPr>
        <p:spPr/>
        <p:txBody>
          <a:bodyPr/>
          <a:lstStyle/>
          <a:p>
            <a:r>
              <a:rPr lang="en-US" dirty="0"/>
              <a:t>Production System: Weak Methods</a:t>
            </a:r>
          </a:p>
        </p:txBody>
      </p:sp>
      <p:sp>
        <p:nvSpPr>
          <p:cNvPr id="3" name="Content Placeholder 2">
            <a:extLst>
              <a:ext uri="{FF2B5EF4-FFF2-40B4-BE49-F238E27FC236}">
                <a16:creationId xmlns:a16="http://schemas.microsoft.com/office/drawing/2014/main" id="{FC36B67E-9EFE-3F77-9F07-D8E22486DE81}"/>
              </a:ext>
            </a:extLst>
          </p:cNvPr>
          <p:cNvSpPr>
            <a:spLocks noGrp="1"/>
          </p:cNvSpPr>
          <p:nvPr>
            <p:ph idx="1"/>
          </p:nvPr>
        </p:nvSpPr>
        <p:spPr/>
        <p:txBody>
          <a:bodyPr/>
          <a:lstStyle/>
          <a:p>
            <a:pPr marL="0" indent="0">
              <a:lnSpc>
                <a:spcPct val="150000"/>
              </a:lnSpc>
              <a:buNone/>
            </a:pPr>
            <a:r>
              <a:rPr lang="en-US" b="0" i="0" dirty="0">
                <a:effectLst/>
                <a:latin typeface="Google Sans"/>
              </a:rPr>
              <a:t>Weak methods, on the other hand, focus on general problem-solving techniques that can be applied across various domains. They often rely on general logic and reasoning principles, such as search algorithms, heuristic techniques, and planning methods. For instance, a search engine might use a weak method to find relevant information, regardless of the specific topic being searched for. </a:t>
            </a:r>
            <a:endParaRPr lang="en-US" dirty="0"/>
          </a:p>
        </p:txBody>
      </p:sp>
    </p:spTree>
    <p:extLst>
      <p:ext uri="{BB962C8B-B14F-4D97-AF65-F5344CB8AC3E}">
        <p14:creationId xmlns:p14="http://schemas.microsoft.com/office/powerpoint/2010/main" val="18761266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46E48-C4A0-F3AC-A47F-E82BD5465B7A}"/>
              </a:ext>
            </a:extLst>
          </p:cNvPr>
          <p:cNvSpPr>
            <a:spLocks noGrp="1"/>
          </p:cNvSpPr>
          <p:nvPr>
            <p:ph type="title"/>
          </p:nvPr>
        </p:nvSpPr>
        <p:spPr/>
        <p:txBody>
          <a:bodyPr/>
          <a:lstStyle/>
          <a:p>
            <a:r>
              <a:rPr lang="en-US" dirty="0"/>
              <a:t>Key Differences</a:t>
            </a:r>
          </a:p>
        </p:txBody>
      </p:sp>
      <p:sp>
        <p:nvSpPr>
          <p:cNvPr id="3" name="Content Placeholder 2">
            <a:extLst>
              <a:ext uri="{FF2B5EF4-FFF2-40B4-BE49-F238E27FC236}">
                <a16:creationId xmlns:a16="http://schemas.microsoft.com/office/drawing/2014/main" id="{CE703F32-AA42-CDB2-322F-CFDD29A2D6FA}"/>
              </a:ext>
            </a:extLst>
          </p:cNvPr>
          <p:cNvSpPr>
            <a:spLocks noGrp="1"/>
          </p:cNvSpPr>
          <p:nvPr>
            <p:ph idx="1"/>
          </p:nvPr>
        </p:nvSpPr>
        <p:spPr/>
        <p:txBody>
          <a:bodyPr>
            <a:normAutofit fontScale="85000" lnSpcReduction="10000"/>
          </a:bodyPr>
          <a:lstStyle/>
          <a:p>
            <a:pPr algn="l" fontAlgn="ctr">
              <a:lnSpc>
                <a:spcPct val="100000"/>
              </a:lnSpc>
              <a:spcBef>
                <a:spcPts val="600"/>
              </a:spcBef>
              <a:spcAft>
                <a:spcPts val="600"/>
              </a:spcAft>
              <a:buFont typeface="Arial" panose="020B0604020202020204" pitchFamily="34" charset="0"/>
              <a:buChar char="•"/>
            </a:pPr>
            <a:r>
              <a:rPr lang="en-US" b="1" i="0" dirty="0">
                <a:effectLst/>
                <a:latin typeface="Google Sans"/>
              </a:rPr>
              <a:t>Knowledge:</a:t>
            </a:r>
            <a:r>
              <a:rPr lang="en-US" b="0" i="0" dirty="0">
                <a:effectLst/>
                <a:latin typeface="Google Sans"/>
              </a:rPr>
              <a:t> Strong methods require extensive, domain-specific knowledge, while weak methods rely on general knowledge and reasoning. </a:t>
            </a:r>
          </a:p>
          <a:p>
            <a:pPr algn="l" fontAlgn="ctr">
              <a:lnSpc>
                <a:spcPct val="100000"/>
              </a:lnSpc>
              <a:spcBef>
                <a:spcPts val="600"/>
              </a:spcBef>
              <a:spcAft>
                <a:spcPts val="600"/>
              </a:spcAft>
              <a:buFont typeface="Arial" panose="020B0604020202020204" pitchFamily="34" charset="0"/>
              <a:buChar char="•"/>
            </a:pPr>
            <a:r>
              <a:rPr lang="en-US" b="1" i="0" dirty="0">
                <a:effectLst/>
                <a:latin typeface="Google Sans"/>
              </a:rPr>
              <a:t>Scope:</a:t>
            </a:r>
            <a:r>
              <a:rPr lang="en-US" b="0" i="0" dirty="0">
                <a:effectLst/>
                <a:latin typeface="Google Sans"/>
              </a:rPr>
              <a:t> Strong methods are typically designed for specific tasks or domains, whereas weak methods can be applied to a wider range of problems. </a:t>
            </a:r>
          </a:p>
          <a:p>
            <a:pPr algn="l" fontAlgn="ctr">
              <a:lnSpc>
                <a:spcPct val="100000"/>
              </a:lnSpc>
              <a:spcBef>
                <a:spcPts val="600"/>
              </a:spcBef>
              <a:spcAft>
                <a:spcPts val="600"/>
              </a:spcAft>
              <a:buFont typeface="Arial" panose="020B0604020202020204" pitchFamily="34" charset="0"/>
              <a:buChar char="•"/>
            </a:pPr>
            <a:r>
              <a:rPr lang="en-US" b="1" i="0" dirty="0">
                <a:effectLst/>
                <a:latin typeface="Google Sans"/>
              </a:rPr>
              <a:t>Complexity:</a:t>
            </a:r>
            <a:r>
              <a:rPr lang="en-US" b="0" i="0" dirty="0">
                <a:effectLst/>
                <a:latin typeface="Google Sans"/>
              </a:rPr>
              <a:t> Strong methods can become complex and unwieldy as the domain-specific knowledge grows. Weak methods, while simpler to implement, may require more computational resources to achieve the same results. </a:t>
            </a:r>
          </a:p>
          <a:p>
            <a:pPr algn="l">
              <a:lnSpc>
                <a:spcPct val="100000"/>
              </a:lnSpc>
              <a:spcBef>
                <a:spcPts val="600"/>
              </a:spcBef>
              <a:spcAft>
                <a:spcPts val="1500"/>
              </a:spcAft>
              <a:buFont typeface="Arial" panose="020B0604020202020204" pitchFamily="34" charset="0"/>
              <a:buChar char="•"/>
            </a:pPr>
            <a:r>
              <a:rPr lang="en-US" b="1" i="0" dirty="0">
                <a:effectLst/>
                <a:latin typeface="Google Sans"/>
              </a:rPr>
              <a:t>Flexibility:</a:t>
            </a:r>
            <a:r>
              <a:rPr lang="en-US" b="0" i="0" dirty="0">
                <a:effectLst/>
                <a:latin typeface="Google Sans"/>
              </a:rPr>
              <a:t> Weak methods are generally more flexible and can adapt to new situations better than strong methods, which are often designed for specific, predefined scenarios. </a:t>
            </a:r>
          </a:p>
          <a:p>
            <a:endParaRPr lang="en-US" dirty="0"/>
          </a:p>
        </p:txBody>
      </p:sp>
    </p:spTree>
    <p:extLst>
      <p:ext uri="{BB962C8B-B14F-4D97-AF65-F5344CB8AC3E}">
        <p14:creationId xmlns:p14="http://schemas.microsoft.com/office/powerpoint/2010/main" val="1300598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83572-FB27-F0B9-BB9E-B328F9A352AA}"/>
              </a:ext>
            </a:extLst>
          </p:cNvPr>
          <p:cNvSpPr>
            <a:spLocks noGrp="1"/>
          </p:cNvSpPr>
          <p:nvPr>
            <p:ph type="title"/>
          </p:nvPr>
        </p:nvSpPr>
        <p:spPr/>
        <p:txBody>
          <a:bodyPr/>
          <a:lstStyle/>
          <a:p>
            <a:r>
              <a:rPr lang="en-US" dirty="0"/>
              <a:t>Inference Methods</a:t>
            </a:r>
          </a:p>
        </p:txBody>
      </p:sp>
      <p:sp>
        <p:nvSpPr>
          <p:cNvPr id="3" name="Content Placeholder 2">
            <a:extLst>
              <a:ext uri="{FF2B5EF4-FFF2-40B4-BE49-F238E27FC236}">
                <a16:creationId xmlns:a16="http://schemas.microsoft.com/office/drawing/2014/main" id="{46F3A7FB-3BAC-7424-507D-BE5DB4F83066}"/>
              </a:ext>
            </a:extLst>
          </p:cNvPr>
          <p:cNvSpPr>
            <a:spLocks noGrp="1"/>
          </p:cNvSpPr>
          <p:nvPr>
            <p:ph idx="1"/>
          </p:nvPr>
        </p:nvSpPr>
        <p:spPr>
          <a:xfrm>
            <a:off x="838199" y="1825625"/>
            <a:ext cx="10722429" cy="4351338"/>
          </a:xfrm>
        </p:spPr>
        <p:txBody>
          <a:bodyPr/>
          <a:lstStyle/>
          <a:p>
            <a:pPr marL="0" indent="0">
              <a:buNone/>
            </a:pPr>
            <a:r>
              <a:rPr lang="en-US" dirty="0"/>
              <a:t>An </a:t>
            </a:r>
            <a:r>
              <a:rPr lang="en-US" b="1" dirty="0"/>
              <a:t>Inference Method</a:t>
            </a:r>
            <a:r>
              <a:rPr lang="en-US" dirty="0"/>
              <a:t> is the </a:t>
            </a:r>
            <a:r>
              <a:rPr lang="en-US" b="1" dirty="0"/>
              <a:t>process AI uses to apply logic</a:t>
            </a:r>
            <a:r>
              <a:rPr lang="en-US" dirty="0"/>
              <a:t> and </a:t>
            </a:r>
            <a:r>
              <a:rPr lang="en-US" b="1" dirty="0"/>
              <a:t>draw conclusions</a:t>
            </a:r>
            <a:r>
              <a:rPr lang="en-US" dirty="0"/>
              <a:t> from known facts and rules.</a:t>
            </a:r>
          </a:p>
          <a:p>
            <a:pPr marL="0" indent="0">
              <a:buNone/>
            </a:pPr>
            <a:endParaRPr lang="en-US" dirty="0"/>
          </a:p>
          <a:p>
            <a:pPr>
              <a:buNone/>
            </a:pPr>
            <a:r>
              <a:rPr lang="en-US" dirty="0"/>
              <a:t>In AI systems (especially expert systems), inference methods </a:t>
            </a:r>
            <a:r>
              <a:rPr lang="en-US" b="1" dirty="0"/>
              <a:t>decide what to do next</a:t>
            </a:r>
            <a:r>
              <a:rPr lang="en-US" dirty="0"/>
              <a:t> based on:</a:t>
            </a:r>
          </a:p>
          <a:p>
            <a:pPr>
              <a:buFont typeface="Arial" panose="020B0604020202020204" pitchFamily="34" charset="0"/>
              <a:buChar char="•"/>
            </a:pPr>
            <a:r>
              <a:rPr lang="en-US" dirty="0"/>
              <a:t>What we </a:t>
            </a:r>
            <a:r>
              <a:rPr lang="en-US" b="1" dirty="0"/>
              <a:t>already know</a:t>
            </a:r>
            <a:r>
              <a:rPr lang="en-US" dirty="0"/>
              <a:t> (facts)</a:t>
            </a:r>
          </a:p>
          <a:p>
            <a:pPr>
              <a:buFont typeface="Arial" panose="020B0604020202020204" pitchFamily="34" charset="0"/>
              <a:buChar char="•"/>
            </a:pPr>
            <a:r>
              <a:rPr lang="en-US" dirty="0"/>
              <a:t>What </a:t>
            </a:r>
            <a:r>
              <a:rPr lang="en-US" b="1" dirty="0"/>
              <a:t>rules</a:t>
            </a:r>
            <a:r>
              <a:rPr lang="en-US" dirty="0"/>
              <a:t> are available</a:t>
            </a:r>
          </a:p>
          <a:p>
            <a:pPr>
              <a:buFont typeface="Arial" panose="020B0604020202020204" pitchFamily="34" charset="0"/>
              <a:buChar char="•"/>
            </a:pPr>
            <a:r>
              <a:rPr lang="en-US" dirty="0"/>
              <a:t>What </a:t>
            </a:r>
            <a:r>
              <a:rPr lang="en-US" b="1" dirty="0"/>
              <a:t>goal</a:t>
            </a:r>
            <a:r>
              <a:rPr lang="en-US" dirty="0"/>
              <a:t> or conclusion we want to reach</a:t>
            </a:r>
          </a:p>
          <a:p>
            <a:pPr marL="0" indent="0">
              <a:buNone/>
            </a:pPr>
            <a:endParaRPr lang="en-US" dirty="0"/>
          </a:p>
        </p:txBody>
      </p:sp>
    </p:spTree>
    <p:extLst>
      <p:ext uri="{BB962C8B-B14F-4D97-AF65-F5344CB8AC3E}">
        <p14:creationId xmlns:p14="http://schemas.microsoft.com/office/powerpoint/2010/main" val="3895061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06B4C-B036-9AA8-9418-9CCCFE50796C}"/>
              </a:ext>
            </a:extLst>
          </p:cNvPr>
          <p:cNvSpPr>
            <a:spLocks noGrp="1"/>
          </p:cNvSpPr>
          <p:nvPr>
            <p:ph type="title"/>
          </p:nvPr>
        </p:nvSpPr>
        <p:spPr/>
        <p:txBody>
          <a:bodyPr/>
          <a:lstStyle/>
          <a:p>
            <a:r>
              <a:rPr lang="en-US" b="1" dirty="0"/>
              <a:t>Example:</a:t>
            </a:r>
            <a:endParaRPr lang="en-US" dirty="0"/>
          </a:p>
        </p:txBody>
      </p:sp>
      <p:sp>
        <p:nvSpPr>
          <p:cNvPr id="3" name="Content Placeholder 2">
            <a:extLst>
              <a:ext uri="{FF2B5EF4-FFF2-40B4-BE49-F238E27FC236}">
                <a16:creationId xmlns:a16="http://schemas.microsoft.com/office/drawing/2014/main" id="{5731D4B0-DA9C-83DA-DB0E-4730E2FB1B68}"/>
              </a:ext>
            </a:extLst>
          </p:cNvPr>
          <p:cNvSpPr>
            <a:spLocks noGrp="1"/>
          </p:cNvSpPr>
          <p:nvPr>
            <p:ph idx="1"/>
          </p:nvPr>
        </p:nvSpPr>
        <p:spPr/>
        <p:txBody>
          <a:bodyPr>
            <a:normAutofit/>
          </a:bodyPr>
          <a:lstStyle/>
          <a:p>
            <a:pPr lvl="1">
              <a:buNone/>
            </a:pPr>
            <a:r>
              <a:rPr lang="en-US" b="1" dirty="0"/>
              <a:t>Facts:</a:t>
            </a:r>
            <a:endParaRPr lang="en-US" dirty="0"/>
          </a:p>
          <a:p>
            <a:pPr lvl="1"/>
            <a:r>
              <a:rPr lang="en-US" dirty="0"/>
              <a:t>You have fever</a:t>
            </a:r>
          </a:p>
          <a:p>
            <a:pPr lvl="1"/>
            <a:r>
              <a:rPr lang="en-US" dirty="0"/>
              <a:t>You have cough</a:t>
            </a:r>
          </a:p>
          <a:p>
            <a:pPr lvl="1">
              <a:buNone/>
            </a:pPr>
            <a:r>
              <a:rPr lang="en-US" b="1" dirty="0"/>
              <a:t>Rules:</a:t>
            </a:r>
            <a:endParaRPr lang="en-US" dirty="0"/>
          </a:p>
          <a:p>
            <a:pPr lvl="1"/>
            <a:r>
              <a:rPr lang="en-US" dirty="0"/>
              <a:t>IF fever AND cough → THEN flu</a:t>
            </a:r>
          </a:p>
          <a:p>
            <a:pPr lvl="1"/>
            <a:r>
              <a:rPr lang="en-US" dirty="0"/>
              <a:t>IF flu → THEN take rest</a:t>
            </a:r>
          </a:p>
          <a:p>
            <a:pPr lvl="1"/>
            <a:r>
              <a:rPr lang="en-US" b="1" dirty="0"/>
              <a:t>Inference Method:</a:t>
            </a:r>
            <a:br>
              <a:rPr lang="en-US" dirty="0"/>
            </a:br>
            <a:r>
              <a:rPr lang="en-US" dirty="0"/>
              <a:t>→ The process of applying those rules to your facts to reach the conclusion:</a:t>
            </a:r>
            <a:br>
              <a:rPr lang="en-US" dirty="0"/>
            </a:br>
            <a:r>
              <a:rPr lang="en-US" dirty="0"/>
              <a:t>👉 "You may have flu, so take rest."</a:t>
            </a:r>
          </a:p>
          <a:p>
            <a:endParaRPr lang="en-US" dirty="0"/>
          </a:p>
        </p:txBody>
      </p:sp>
    </p:spTree>
    <p:extLst>
      <p:ext uri="{BB962C8B-B14F-4D97-AF65-F5344CB8AC3E}">
        <p14:creationId xmlns:p14="http://schemas.microsoft.com/office/powerpoint/2010/main" val="268345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AE02D-E124-0285-378A-51A027D1D38A}"/>
              </a:ext>
            </a:extLst>
          </p:cNvPr>
          <p:cNvSpPr>
            <a:spLocks noGrp="1"/>
          </p:cNvSpPr>
          <p:nvPr>
            <p:ph type="title"/>
          </p:nvPr>
        </p:nvSpPr>
        <p:spPr/>
        <p:txBody>
          <a:bodyPr/>
          <a:lstStyle/>
          <a:p>
            <a:r>
              <a:rPr lang="en-US" b="1" dirty="0"/>
              <a:t>Difference between a Production System and Predicate/Propositional Logic</a:t>
            </a:r>
            <a:r>
              <a:rPr lang="en-US" dirty="0"/>
              <a:t>:</a:t>
            </a:r>
          </a:p>
        </p:txBody>
      </p:sp>
      <p:sp>
        <p:nvSpPr>
          <p:cNvPr id="3" name="Content Placeholder 2">
            <a:extLst>
              <a:ext uri="{FF2B5EF4-FFF2-40B4-BE49-F238E27FC236}">
                <a16:creationId xmlns:a16="http://schemas.microsoft.com/office/drawing/2014/main" id="{24AEF66D-FD40-C708-7808-F16850466877}"/>
              </a:ext>
            </a:extLst>
          </p:cNvPr>
          <p:cNvSpPr>
            <a:spLocks noGrp="1"/>
          </p:cNvSpPr>
          <p:nvPr>
            <p:ph idx="1"/>
          </p:nvPr>
        </p:nvSpPr>
        <p:spPr>
          <a:xfrm>
            <a:off x="838200" y="1825625"/>
            <a:ext cx="10515600" cy="4762954"/>
          </a:xfrm>
        </p:spPr>
        <p:txBody>
          <a:bodyPr>
            <a:normAutofit/>
          </a:bodyPr>
          <a:lstStyle/>
          <a:p>
            <a:pPr>
              <a:buNone/>
            </a:pPr>
            <a:r>
              <a:rPr lang="en-US" b="1" dirty="0"/>
              <a:t>Production System</a:t>
            </a:r>
          </a:p>
          <a:p>
            <a:pPr>
              <a:buFont typeface="Arial" panose="020B0604020202020204" pitchFamily="34" charset="0"/>
              <a:buChar char="•"/>
            </a:pPr>
            <a:r>
              <a:rPr lang="en-US" sz="2400" dirty="0"/>
              <a:t>A system that uses </a:t>
            </a:r>
            <a:r>
              <a:rPr lang="en-US" sz="2400" b="1" dirty="0"/>
              <a:t>rules</a:t>
            </a:r>
            <a:r>
              <a:rPr lang="en-US" sz="2400" dirty="0"/>
              <a:t> to transform a state into another.</a:t>
            </a:r>
          </a:p>
          <a:p>
            <a:pPr>
              <a:buFont typeface="Arial" panose="020B0604020202020204" pitchFamily="34" charset="0"/>
              <a:buChar char="•"/>
            </a:pPr>
            <a:r>
              <a:rPr lang="en-US" sz="2400" dirty="0"/>
              <a:t>Core structure:</a:t>
            </a:r>
            <a:br>
              <a:rPr lang="en-US" sz="2400" dirty="0"/>
            </a:br>
            <a:r>
              <a:rPr lang="en-US" sz="2400" b="1" dirty="0"/>
              <a:t>IF condition THEN action</a:t>
            </a:r>
            <a:r>
              <a:rPr lang="en-US" sz="2400" dirty="0"/>
              <a:t> (called </a:t>
            </a:r>
            <a:r>
              <a:rPr lang="en-US" sz="2400" b="1" dirty="0"/>
              <a:t>production rules</a:t>
            </a:r>
            <a:r>
              <a:rPr lang="en-US" sz="2400" dirty="0"/>
              <a:t>)</a:t>
            </a:r>
          </a:p>
          <a:p>
            <a:pPr>
              <a:buFont typeface="Arial" panose="020B0604020202020204" pitchFamily="34" charset="0"/>
              <a:buChar char="•"/>
            </a:pPr>
            <a:r>
              <a:rPr lang="en-US" sz="2400" dirty="0"/>
              <a:t>Used in </a:t>
            </a:r>
            <a:r>
              <a:rPr lang="en-US" sz="2400" b="1" dirty="0"/>
              <a:t>AI</a:t>
            </a:r>
            <a:r>
              <a:rPr lang="en-US" sz="2400" dirty="0"/>
              <a:t>, </a:t>
            </a:r>
            <a:r>
              <a:rPr lang="en-US" sz="2400" b="1" dirty="0"/>
              <a:t>expert systems</a:t>
            </a:r>
            <a:r>
              <a:rPr lang="en-US" sz="2400" dirty="0"/>
              <a:t>, </a:t>
            </a:r>
            <a:r>
              <a:rPr lang="en-US" sz="2400" b="1" dirty="0"/>
              <a:t>game engines</a:t>
            </a:r>
            <a:r>
              <a:rPr lang="en-US" sz="2400" dirty="0"/>
              <a:t>, and </a:t>
            </a:r>
            <a:r>
              <a:rPr lang="en-US" sz="2400" b="1" dirty="0"/>
              <a:t>control systems</a:t>
            </a:r>
            <a:r>
              <a:rPr lang="en-US" sz="2400" dirty="0"/>
              <a:t>.</a:t>
            </a:r>
          </a:p>
          <a:p>
            <a:pPr marL="0" indent="0">
              <a:buNone/>
            </a:pPr>
            <a:endParaRPr lang="en-US" sz="2400" dirty="0"/>
          </a:p>
          <a:p>
            <a:pPr>
              <a:buNone/>
            </a:pPr>
            <a:r>
              <a:rPr lang="en-US" b="1" dirty="0"/>
              <a:t>Propositional/Predicate Logic</a:t>
            </a:r>
          </a:p>
          <a:p>
            <a:pPr>
              <a:buFont typeface="Arial" panose="020B0604020202020204" pitchFamily="34" charset="0"/>
              <a:buChar char="•"/>
            </a:pPr>
            <a:r>
              <a:rPr lang="en-US" sz="2400" dirty="0"/>
              <a:t>Formal systems used to </a:t>
            </a:r>
            <a:r>
              <a:rPr lang="en-US" sz="2400" b="1" dirty="0"/>
              <a:t>represent knowledge</a:t>
            </a:r>
            <a:r>
              <a:rPr lang="en-US" sz="2400" dirty="0"/>
              <a:t> and perform </a:t>
            </a:r>
            <a:r>
              <a:rPr lang="en-US" sz="2400" b="1" dirty="0"/>
              <a:t>logical reasoning</a:t>
            </a:r>
            <a:r>
              <a:rPr lang="en-US" sz="2400" dirty="0"/>
              <a:t>.</a:t>
            </a:r>
          </a:p>
          <a:p>
            <a:pPr>
              <a:buFont typeface="Arial" panose="020B0604020202020204" pitchFamily="34" charset="0"/>
              <a:buChar char="•"/>
            </a:pPr>
            <a:r>
              <a:rPr lang="en-US" sz="2400" dirty="0"/>
              <a:t>Use </a:t>
            </a:r>
            <a:r>
              <a:rPr lang="en-US" sz="2400" b="1" dirty="0"/>
              <a:t>logical formulas</a:t>
            </a:r>
            <a:r>
              <a:rPr lang="en-US" sz="2400" dirty="0"/>
              <a:t> (with symbols, variables, quantifiers) to express facts and relationships.</a:t>
            </a:r>
          </a:p>
        </p:txBody>
      </p:sp>
    </p:spTree>
    <p:extLst>
      <p:ext uri="{BB962C8B-B14F-4D97-AF65-F5344CB8AC3E}">
        <p14:creationId xmlns:p14="http://schemas.microsoft.com/office/powerpoint/2010/main" val="2306688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F7E24-61D3-1B51-2DC5-5452BEAE20A0}"/>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Arial" panose="020B0604020202020204" pitchFamily="34" charset="0"/>
              </a:rPr>
              <a:t>Example Comparison</a:t>
            </a:r>
            <a:endParaRPr lang="en-US" dirty="0"/>
          </a:p>
        </p:txBody>
      </p:sp>
      <p:sp>
        <p:nvSpPr>
          <p:cNvPr id="4" name="Rectangle 1">
            <a:extLst>
              <a:ext uri="{FF2B5EF4-FFF2-40B4-BE49-F238E27FC236}">
                <a16:creationId xmlns:a16="http://schemas.microsoft.com/office/drawing/2014/main" id="{AD236C63-4511-5069-54E7-DC5C61A7840C}"/>
              </a:ext>
            </a:extLst>
          </p:cNvPr>
          <p:cNvSpPr>
            <a:spLocks noGrp="1" noChangeArrowheads="1"/>
          </p:cNvSpPr>
          <p:nvPr>
            <p:ph idx="1"/>
          </p:nvPr>
        </p:nvSpPr>
        <p:spPr bwMode="auto">
          <a:xfrm>
            <a:off x="838200" y="2872781"/>
            <a:ext cx="5872843" cy="22570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Production System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Rule: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IF "hungry" THEN "go to kitchen"</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Current state: "hungry"</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Action: System applies rule and derives: "go to kitchen"</a:t>
            </a:r>
          </a:p>
        </p:txBody>
      </p:sp>
      <p:sp>
        <p:nvSpPr>
          <p:cNvPr id="5" name="Rectangle 2">
            <a:extLst>
              <a:ext uri="{FF2B5EF4-FFF2-40B4-BE49-F238E27FC236}">
                <a16:creationId xmlns:a16="http://schemas.microsoft.com/office/drawing/2014/main" id="{6CD2A43D-28C8-33F8-D364-C6677F4DDED1}"/>
              </a:ext>
            </a:extLst>
          </p:cNvPr>
          <p:cNvSpPr>
            <a:spLocks noChangeArrowheads="1"/>
          </p:cNvSpPr>
          <p:nvPr/>
        </p:nvSpPr>
        <p:spPr bwMode="auto">
          <a:xfrm>
            <a:off x="7445829" y="2871022"/>
            <a:ext cx="4403770" cy="2734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Propositional Logic Example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Let</a:t>
            </a:r>
            <a:r>
              <a:rPr kumimoji="0" lang="en-US" altLang="en-US" sz="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H: "I am hungry"</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K: "I go to the kitchen"</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Rule: H→K </a:t>
            </a:r>
          </a:p>
          <a:p>
            <a:pPr marL="0" marR="0" lvl="0" indent="0" algn="l"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Fact: H</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derive: K</a:t>
            </a:r>
          </a:p>
        </p:txBody>
      </p:sp>
      <p:cxnSp>
        <p:nvCxnSpPr>
          <p:cNvPr id="7" name="Straight Connector 6">
            <a:extLst>
              <a:ext uri="{FF2B5EF4-FFF2-40B4-BE49-F238E27FC236}">
                <a16:creationId xmlns:a16="http://schemas.microsoft.com/office/drawing/2014/main" id="{8907A04E-4658-2139-CF97-70348AC7D5E4}"/>
              </a:ext>
            </a:extLst>
          </p:cNvPr>
          <p:cNvCxnSpPr/>
          <p:nvPr/>
        </p:nvCxnSpPr>
        <p:spPr>
          <a:xfrm>
            <a:off x="6874329" y="2596243"/>
            <a:ext cx="0" cy="330653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1383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771BF-8BCB-55B6-306E-B385A58117BC}"/>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Arial" panose="020B0604020202020204" pitchFamily="34" charset="0"/>
              </a:rPr>
              <a:t>∀ Predicate Logic Example</a:t>
            </a:r>
            <a:endParaRPr lang="en-US" dirty="0"/>
          </a:p>
        </p:txBody>
      </p:sp>
      <p:sp>
        <p:nvSpPr>
          <p:cNvPr id="4" name="Rectangle 1">
            <a:extLst>
              <a:ext uri="{FF2B5EF4-FFF2-40B4-BE49-F238E27FC236}">
                <a16:creationId xmlns:a16="http://schemas.microsoft.com/office/drawing/2014/main" id="{81393CEB-0BB2-707E-C4CD-EE0F12A1718F}"/>
              </a:ext>
            </a:extLst>
          </p:cNvPr>
          <p:cNvSpPr>
            <a:spLocks noGrp="1" noChangeArrowheads="1"/>
          </p:cNvSpPr>
          <p:nvPr>
            <p:ph idx="1"/>
          </p:nvPr>
        </p:nvSpPr>
        <p:spPr bwMode="auto">
          <a:xfrm>
            <a:off x="838200" y="2611172"/>
            <a:ext cx="4330096" cy="2780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Let:</a:t>
            </a:r>
            <a:endParaRPr kumimoji="0" lang="en-US" altLang="en-US" sz="4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Hungry(x) : "x is hungry"</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GoTo</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x,Kitchen</a:t>
            </a:r>
            <a:r>
              <a:rPr kumimoji="0" lang="en-US" altLang="en-US" sz="1800" b="0" i="0" u="none" strike="noStrike" cap="none" normalizeH="0" baseline="0" dirty="0">
                <a:ln>
                  <a:noFill/>
                </a:ln>
                <a:solidFill>
                  <a:schemeClr val="tx1"/>
                </a:solidFill>
                <a:effectLst/>
                <a:latin typeface="Arial" panose="020B0604020202020204" pitchFamily="34" charset="0"/>
              </a:rPr>
              <a:t>) : "x goes to the kitchen"</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Rule: ∀x(Hungry(x)→</a:t>
            </a:r>
            <a:r>
              <a:rPr kumimoji="0" lang="en-US" altLang="en-US" sz="1800" b="0" i="0" u="none" strike="noStrike" cap="none" normalizeH="0" baseline="0" dirty="0" err="1">
                <a:ln>
                  <a:noFill/>
                </a:ln>
                <a:solidFill>
                  <a:schemeClr val="tx1"/>
                </a:solidFill>
                <a:effectLst/>
                <a:latin typeface="Arial" panose="020B0604020202020204" pitchFamily="34" charset="0"/>
              </a:rPr>
              <a:t>GoTo</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x,Kitchen</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Fact: Hungry(John)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Then conclude:</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GoTo</a:t>
            </a: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John,Kitchen</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8017498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78D01-F04A-D047-5606-ABB3B443FB6C}"/>
              </a:ext>
            </a:extLst>
          </p:cNvPr>
          <p:cNvSpPr>
            <a:spLocks noGrp="1"/>
          </p:cNvSpPr>
          <p:nvPr>
            <p:ph type="title"/>
          </p:nvPr>
        </p:nvSpPr>
        <p:spPr/>
        <p:txBody>
          <a:bodyPr/>
          <a:lstStyle/>
          <a:p>
            <a:r>
              <a:rPr lang="en-US" dirty="0"/>
              <a:t>Key Differences</a:t>
            </a:r>
          </a:p>
        </p:txBody>
      </p:sp>
      <p:graphicFrame>
        <p:nvGraphicFramePr>
          <p:cNvPr id="16" name="Table 15">
            <a:extLst>
              <a:ext uri="{FF2B5EF4-FFF2-40B4-BE49-F238E27FC236}">
                <a16:creationId xmlns:a16="http://schemas.microsoft.com/office/drawing/2014/main" id="{0B3A31FE-03DF-2BE2-2AC9-CCDD7C8442D5}"/>
              </a:ext>
            </a:extLst>
          </p:cNvPr>
          <p:cNvGraphicFramePr>
            <a:graphicFrameLocks noGrp="1"/>
          </p:cNvGraphicFramePr>
          <p:nvPr>
            <p:extLst>
              <p:ext uri="{D42A27DB-BD31-4B8C-83A1-F6EECF244321}">
                <p14:modId xmlns:p14="http://schemas.microsoft.com/office/powerpoint/2010/main" val="353549352"/>
              </p:ext>
            </p:extLst>
          </p:nvPr>
        </p:nvGraphicFramePr>
        <p:xfrm>
          <a:off x="658586" y="2490902"/>
          <a:ext cx="10515600" cy="3017520"/>
        </p:xfrm>
        <a:graphic>
          <a:graphicData uri="http://schemas.openxmlformats.org/drawingml/2006/table">
            <a:tbl>
              <a:tblPr/>
              <a:tblGrid>
                <a:gridCol w="1994807">
                  <a:extLst>
                    <a:ext uri="{9D8B030D-6E8A-4147-A177-3AD203B41FA5}">
                      <a16:colId xmlns:a16="http://schemas.microsoft.com/office/drawing/2014/main" val="2858732698"/>
                    </a:ext>
                  </a:extLst>
                </a:gridCol>
                <a:gridCol w="3902528">
                  <a:extLst>
                    <a:ext uri="{9D8B030D-6E8A-4147-A177-3AD203B41FA5}">
                      <a16:colId xmlns:a16="http://schemas.microsoft.com/office/drawing/2014/main" val="579511131"/>
                    </a:ext>
                  </a:extLst>
                </a:gridCol>
                <a:gridCol w="4618265">
                  <a:extLst>
                    <a:ext uri="{9D8B030D-6E8A-4147-A177-3AD203B41FA5}">
                      <a16:colId xmlns:a16="http://schemas.microsoft.com/office/drawing/2014/main" val="394930572"/>
                    </a:ext>
                  </a:extLst>
                </a:gridCol>
              </a:tblGrid>
              <a:tr h="502920">
                <a:tc>
                  <a:txBody>
                    <a:bodyPr/>
                    <a:lstStyle/>
                    <a:p>
                      <a:r>
                        <a:rPr lang="en-US" dirty="0"/>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dirty="0"/>
                        <a:t>Production System</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b="1"/>
                        <a:t>Propositional / Predicate Logic</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262385"/>
                  </a:ext>
                </a:extLst>
              </a:tr>
              <a:tr h="502920">
                <a:tc>
                  <a:txBody>
                    <a:bodyPr/>
                    <a:lstStyle/>
                    <a:p>
                      <a:r>
                        <a:rPr lang="en-US" b="1"/>
                        <a:t>Focus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Actions /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Reasoning / truth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3166264"/>
                  </a:ext>
                </a:extLst>
              </a:tr>
              <a:tr h="502920">
                <a:tc>
                  <a:txBody>
                    <a:bodyPr/>
                    <a:lstStyle/>
                    <a:p>
                      <a:r>
                        <a:rPr lang="en-US" b="1"/>
                        <a:t>Execution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Rule matching and firing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Logical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6162719"/>
                  </a:ext>
                </a:extLst>
              </a:tr>
              <a:tr h="502920">
                <a:tc>
                  <a:txBody>
                    <a:bodyPr/>
                    <a:lstStyle/>
                    <a:p>
                      <a:r>
                        <a:rPr lang="en-US" b="1"/>
                        <a:t>Modifiability</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Easily update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Less modular, more formal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3157858"/>
                  </a:ext>
                </a:extLst>
              </a:tr>
              <a:tr h="502920">
                <a:tc>
                  <a:txBody>
                    <a:bodyPr/>
                    <a:lstStyle/>
                    <a:p>
                      <a:r>
                        <a:rPr lang="en-US" b="1"/>
                        <a:t>Expressiveness</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Less formal; procedural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Very expressive (especially predicate logic)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9070991"/>
                  </a:ext>
                </a:extLst>
              </a:tr>
              <a:tr h="502920">
                <a:tc>
                  <a:txBody>
                    <a:bodyPr/>
                    <a:lstStyle/>
                    <a:p>
                      <a:r>
                        <a:rPr lang="en-US" b="1"/>
                        <a:t>Use in AI</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Used in expert systems, rule engines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Used in logic-based AI, theorem proving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3263051"/>
                  </a:ext>
                </a:extLst>
              </a:tr>
            </a:tbl>
          </a:graphicData>
        </a:graphic>
      </p:graphicFrame>
    </p:spTree>
    <p:extLst>
      <p:ext uri="{BB962C8B-B14F-4D97-AF65-F5344CB8AC3E}">
        <p14:creationId xmlns:p14="http://schemas.microsoft.com/office/powerpoint/2010/main" val="13610061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35209-E003-1D48-B451-3D414DDC6EF5}"/>
              </a:ext>
            </a:extLst>
          </p:cNvPr>
          <p:cNvSpPr>
            <a:spLocks noGrp="1"/>
          </p:cNvSpPr>
          <p:nvPr>
            <p:ph type="title"/>
          </p:nvPr>
        </p:nvSpPr>
        <p:spPr/>
        <p:txBody>
          <a:bodyPr/>
          <a:lstStyle/>
          <a:p>
            <a:r>
              <a:rPr lang="en-US" dirty="0"/>
              <a:t>Types of Inference Methods</a:t>
            </a:r>
          </a:p>
        </p:txBody>
      </p:sp>
      <p:sp>
        <p:nvSpPr>
          <p:cNvPr id="3" name="Content Placeholder 2">
            <a:extLst>
              <a:ext uri="{FF2B5EF4-FFF2-40B4-BE49-F238E27FC236}">
                <a16:creationId xmlns:a16="http://schemas.microsoft.com/office/drawing/2014/main" id="{9C1E234B-0568-0B0C-2F54-86F516F87555}"/>
              </a:ext>
            </a:extLst>
          </p:cNvPr>
          <p:cNvSpPr>
            <a:spLocks noGrp="1"/>
          </p:cNvSpPr>
          <p:nvPr>
            <p:ph idx="1"/>
          </p:nvPr>
        </p:nvSpPr>
        <p:spPr/>
        <p:txBody>
          <a:bodyPr/>
          <a:lstStyle/>
          <a:p>
            <a:pPr marL="514350" indent="-514350">
              <a:lnSpc>
                <a:spcPct val="200000"/>
              </a:lnSpc>
              <a:buAutoNum type="arabicPeriod"/>
            </a:pPr>
            <a:r>
              <a:rPr lang="en-US" b="1" dirty="0"/>
              <a:t>Forward Chaining</a:t>
            </a:r>
            <a:r>
              <a:rPr lang="en-US" dirty="0"/>
              <a:t> (Data-Driven)</a:t>
            </a:r>
          </a:p>
          <a:p>
            <a:pPr marL="514350" indent="-514350">
              <a:lnSpc>
                <a:spcPct val="200000"/>
              </a:lnSpc>
              <a:buAutoNum type="arabicPeriod"/>
            </a:pPr>
            <a:r>
              <a:rPr lang="en-US" b="1" dirty="0"/>
              <a:t>Backward Chaining</a:t>
            </a:r>
            <a:r>
              <a:rPr lang="en-US" dirty="0"/>
              <a:t> (Goal-Driven)</a:t>
            </a:r>
          </a:p>
        </p:txBody>
      </p:sp>
    </p:spTree>
    <p:extLst>
      <p:ext uri="{BB962C8B-B14F-4D97-AF65-F5344CB8AC3E}">
        <p14:creationId xmlns:p14="http://schemas.microsoft.com/office/powerpoint/2010/main" val="28473669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EBBFE-4E75-224B-28F0-B7EEA0B46A9A}"/>
              </a:ext>
            </a:extLst>
          </p:cNvPr>
          <p:cNvSpPr>
            <a:spLocks noGrp="1"/>
          </p:cNvSpPr>
          <p:nvPr>
            <p:ph type="title"/>
          </p:nvPr>
        </p:nvSpPr>
        <p:spPr/>
        <p:txBody>
          <a:bodyPr/>
          <a:lstStyle/>
          <a:p>
            <a:r>
              <a:rPr lang="en-US" b="1" dirty="0"/>
              <a:t>Forward Chaining (Data-Driven)</a:t>
            </a:r>
            <a:endParaRPr lang="en-US" dirty="0"/>
          </a:p>
        </p:txBody>
      </p:sp>
      <p:sp>
        <p:nvSpPr>
          <p:cNvPr id="3" name="Content Placeholder 2">
            <a:extLst>
              <a:ext uri="{FF2B5EF4-FFF2-40B4-BE49-F238E27FC236}">
                <a16:creationId xmlns:a16="http://schemas.microsoft.com/office/drawing/2014/main" id="{4BDB8B68-18D6-4F06-F107-F50C81182CA4}"/>
              </a:ext>
            </a:extLst>
          </p:cNvPr>
          <p:cNvSpPr>
            <a:spLocks noGrp="1"/>
          </p:cNvSpPr>
          <p:nvPr>
            <p:ph idx="1"/>
          </p:nvPr>
        </p:nvSpPr>
        <p:spPr/>
        <p:txBody>
          <a:bodyPr>
            <a:normAutofit fontScale="92500" lnSpcReduction="20000"/>
          </a:bodyPr>
          <a:lstStyle/>
          <a:p>
            <a:pPr>
              <a:lnSpc>
                <a:spcPct val="150000"/>
              </a:lnSpc>
              <a:buFont typeface="Arial" panose="020B0604020202020204" pitchFamily="34" charset="0"/>
              <a:buChar char="•"/>
            </a:pPr>
            <a:r>
              <a:rPr lang="en-US" dirty="0"/>
              <a:t>Starts with: </a:t>
            </a:r>
            <a:r>
              <a:rPr lang="en-US" b="1" dirty="0"/>
              <a:t>Known facts</a:t>
            </a:r>
            <a:endParaRPr lang="en-US" dirty="0"/>
          </a:p>
          <a:p>
            <a:pPr>
              <a:lnSpc>
                <a:spcPct val="150000"/>
              </a:lnSpc>
              <a:buFont typeface="Arial" panose="020B0604020202020204" pitchFamily="34" charset="0"/>
              <a:buChar char="•"/>
            </a:pPr>
            <a:r>
              <a:rPr lang="en-US" dirty="0"/>
              <a:t>Applies rules to discover </a:t>
            </a:r>
            <a:r>
              <a:rPr lang="en-US" b="1" dirty="0"/>
              <a:t>new facts</a:t>
            </a:r>
            <a:endParaRPr lang="en-US" dirty="0"/>
          </a:p>
          <a:p>
            <a:pPr>
              <a:lnSpc>
                <a:spcPct val="150000"/>
              </a:lnSpc>
              <a:buFont typeface="Arial" panose="020B0604020202020204" pitchFamily="34" charset="0"/>
              <a:buChar char="•"/>
            </a:pPr>
            <a:r>
              <a:rPr lang="en-US" dirty="0"/>
              <a:t>Keeps going until it reaches the goal or no new facts</a:t>
            </a:r>
          </a:p>
          <a:p>
            <a:pPr>
              <a:lnSpc>
                <a:spcPct val="150000"/>
              </a:lnSpc>
            </a:pPr>
            <a:r>
              <a:rPr lang="en-US" dirty="0"/>
              <a:t>🧠 Use Case: Diagnosis, Simulation</a:t>
            </a:r>
          </a:p>
          <a:p>
            <a:pPr marL="0" indent="0">
              <a:lnSpc>
                <a:spcPct val="150000"/>
              </a:lnSpc>
              <a:buNone/>
            </a:pPr>
            <a:r>
              <a:rPr lang="en-US" sz="2200" i="1" dirty="0"/>
              <a:t>Facts: [fever, cough]  </a:t>
            </a:r>
          </a:p>
          <a:p>
            <a:pPr marL="0" indent="0">
              <a:lnSpc>
                <a:spcPct val="150000"/>
              </a:lnSpc>
              <a:buNone/>
            </a:pPr>
            <a:r>
              <a:rPr lang="en-US" sz="2200" i="1" dirty="0"/>
              <a:t>Rule: IF fever AND cough → flu  </a:t>
            </a:r>
          </a:p>
          <a:p>
            <a:pPr marL="0" indent="0">
              <a:lnSpc>
                <a:spcPct val="150000"/>
              </a:lnSpc>
              <a:buNone/>
            </a:pPr>
            <a:r>
              <a:rPr lang="en-US" sz="2200" i="1" dirty="0"/>
              <a:t>Result: flu</a:t>
            </a:r>
          </a:p>
          <a:p>
            <a:endParaRPr lang="en-US" dirty="0"/>
          </a:p>
        </p:txBody>
      </p:sp>
    </p:spTree>
    <p:extLst>
      <p:ext uri="{BB962C8B-B14F-4D97-AF65-F5344CB8AC3E}">
        <p14:creationId xmlns:p14="http://schemas.microsoft.com/office/powerpoint/2010/main" val="34521230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71368-F25E-DD9E-A9F7-312CBE68A181}"/>
              </a:ext>
            </a:extLst>
          </p:cNvPr>
          <p:cNvSpPr>
            <a:spLocks noGrp="1"/>
          </p:cNvSpPr>
          <p:nvPr>
            <p:ph type="title"/>
          </p:nvPr>
        </p:nvSpPr>
        <p:spPr/>
        <p:txBody>
          <a:bodyPr/>
          <a:lstStyle/>
          <a:p>
            <a:r>
              <a:rPr lang="en-US" b="1" dirty="0"/>
              <a:t>Backward Chaining (Goal-Driven)</a:t>
            </a:r>
            <a:endParaRPr lang="en-US" dirty="0"/>
          </a:p>
        </p:txBody>
      </p:sp>
      <p:sp>
        <p:nvSpPr>
          <p:cNvPr id="3" name="Content Placeholder 2">
            <a:extLst>
              <a:ext uri="{FF2B5EF4-FFF2-40B4-BE49-F238E27FC236}">
                <a16:creationId xmlns:a16="http://schemas.microsoft.com/office/drawing/2014/main" id="{D7774369-3942-7B0F-CBD0-03F72E342007}"/>
              </a:ext>
            </a:extLst>
          </p:cNvPr>
          <p:cNvSpPr>
            <a:spLocks noGrp="1"/>
          </p:cNvSpPr>
          <p:nvPr>
            <p:ph idx="1"/>
          </p:nvPr>
        </p:nvSpPr>
        <p:spPr/>
        <p:txBody>
          <a:bodyPr/>
          <a:lstStyle/>
          <a:p>
            <a:pPr>
              <a:buFont typeface="Arial" panose="020B0604020202020204" pitchFamily="34" charset="0"/>
              <a:buChar char="•"/>
            </a:pPr>
            <a:r>
              <a:rPr lang="en-US" dirty="0"/>
              <a:t>Starts with: </a:t>
            </a:r>
            <a:r>
              <a:rPr lang="en-US" b="1" dirty="0"/>
              <a:t>Goal</a:t>
            </a:r>
            <a:endParaRPr lang="en-US" dirty="0"/>
          </a:p>
          <a:p>
            <a:pPr>
              <a:buFont typeface="Arial" panose="020B0604020202020204" pitchFamily="34" charset="0"/>
              <a:buChar char="•"/>
            </a:pPr>
            <a:r>
              <a:rPr lang="en-US" dirty="0"/>
              <a:t>Looks for rules that can prove the goal</a:t>
            </a:r>
          </a:p>
          <a:p>
            <a:pPr>
              <a:buFont typeface="Arial" panose="020B0604020202020204" pitchFamily="34" charset="0"/>
              <a:buChar char="•"/>
            </a:pPr>
            <a:r>
              <a:rPr lang="en-US" dirty="0"/>
              <a:t>Checks if facts support those rules</a:t>
            </a:r>
          </a:p>
          <a:p>
            <a:r>
              <a:rPr lang="en-US" dirty="0"/>
              <a:t>🧠 Use Case: Expert Systems (e.g., medical diagnosis)</a:t>
            </a:r>
          </a:p>
          <a:p>
            <a:endParaRPr lang="en-US" dirty="0"/>
          </a:p>
          <a:p>
            <a:pPr marL="0" indent="0">
              <a:buNone/>
            </a:pPr>
            <a:r>
              <a:rPr lang="en-US" sz="2000" i="1" dirty="0"/>
              <a:t>Goal: Is it flu?</a:t>
            </a:r>
          </a:p>
          <a:p>
            <a:pPr marL="0" indent="0">
              <a:buNone/>
            </a:pPr>
            <a:r>
              <a:rPr lang="en-US" sz="2000" i="1" dirty="0"/>
              <a:t>Check: Does the person have fever AND cough?</a:t>
            </a:r>
          </a:p>
          <a:p>
            <a:pPr marL="0" indent="0">
              <a:buNone/>
            </a:pPr>
            <a:r>
              <a:rPr lang="en-US" sz="2000" i="1" dirty="0"/>
              <a:t>→ Yes → Confirm flu</a:t>
            </a:r>
          </a:p>
          <a:p>
            <a:endParaRPr lang="en-US" dirty="0"/>
          </a:p>
        </p:txBody>
      </p:sp>
    </p:spTree>
    <p:extLst>
      <p:ext uri="{BB962C8B-B14F-4D97-AF65-F5344CB8AC3E}">
        <p14:creationId xmlns:p14="http://schemas.microsoft.com/office/powerpoint/2010/main" val="25088446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6398-64B6-CA8F-502C-F15BA889AAEE}"/>
              </a:ext>
            </a:extLst>
          </p:cNvPr>
          <p:cNvSpPr>
            <a:spLocks noGrp="1"/>
          </p:cNvSpPr>
          <p:nvPr>
            <p:ph type="title"/>
          </p:nvPr>
        </p:nvSpPr>
        <p:spPr>
          <a:xfrm>
            <a:off x="838200" y="2487840"/>
            <a:ext cx="10515600" cy="1325563"/>
          </a:xfrm>
        </p:spPr>
        <p:txBody>
          <a:bodyPr/>
          <a:lstStyle/>
          <a:p>
            <a:r>
              <a:rPr lang="en-US" dirty="0"/>
              <a:t>Objects and Frames</a:t>
            </a:r>
          </a:p>
        </p:txBody>
      </p:sp>
    </p:spTree>
    <p:extLst>
      <p:ext uri="{BB962C8B-B14F-4D97-AF65-F5344CB8AC3E}">
        <p14:creationId xmlns:p14="http://schemas.microsoft.com/office/powerpoint/2010/main" val="190007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8AD92-4CD4-3D6F-DDA8-50FF7B32E4B6}"/>
              </a:ext>
            </a:extLst>
          </p:cNvPr>
          <p:cNvSpPr>
            <a:spLocks noGrp="1"/>
          </p:cNvSpPr>
          <p:nvPr>
            <p:ph type="title"/>
          </p:nvPr>
        </p:nvSpPr>
        <p:spPr/>
        <p:txBody>
          <a:bodyPr/>
          <a:lstStyle/>
          <a:p>
            <a:r>
              <a:rPr lang="en-US" dirty="0"/>
              <a:t>What are </a:t>
            </a:r>
            <a:r>
              <a:rPr lang="en-US" b="1" dirty="0"/>
              <a:t>Objects</a:t>
            </a:r>
            <a:r>
              <a:rPr lang="en-US" dirty="0"/>
              <a:t> in AI?</a:t>
            </a:r>
          </a:p>
        </p:txBody>
      </p:sp>
      <p:sp>
        <p:nvSpPr>
          <p:cNvPr id="3" name="Content Placeholder 2">
            <a:extLst>
              <a:ext uri="{FF2B5EF4-FFF2-40B4-BE49-F238E27FC236}">
                <a16:creationId xmlns:a16="http://schemas.microsoft.com/office/drawing/2014/main" id="{E66916C2-68D5-565E-F3CF-D748BBBF7100}"/>
              </a:ext>
            </a:extLst>
          </p:cNvPr>
          <p:cNvSpPr>
            <a:spLocks noGrp="1"/>
          </p:cNvSpPr>
          <p:nvPr>
            <p:ph idx="1"/>
          </p:nvPr>
        </p:nvSpPr>
        <p:spPr>
          <a:xfrm>
            <a:off x="702129" y="1825625"/>
            <a:ext cx="10997291" cy="4351338"/>
          </a:xfrm>
        </p:spPr>
        <p:txBody>
          <a:bodyPr>
            <a:normAutofit fontScale="70000" lnSpcReduction="20000"/>
          </a:bodyPr>
          <a:lstStyle/>
          <a:p>
            <a:pPr>
              <a:buNone/>
            </a:pPr>
            <a:r>
              <a:rPr lang="en-US" dirty="0"/>
              <a:t>Think of an </a:t>
            </a:r>
            <a:r>
              <a:rPr lang="en-US" b="1" dirty="0"/>
              <a:t>object</a:t>
            </a:r>
            <a:r>
              <a:rPr lang="en-US" dirty="0"/>
              <a:t> as a </a:t>
            </a:r>
            <a:r>
              <a:rPr lang="en-US" b="1" dirty="0"/>
              <a:t>thing</a:t>
            </a:r>
            <a:r>
              <a:rPr lang="en-US" dirty="0"/>
              <a:t> in real life, like a </a:t>
            </a:r>
            <a:r>
              <a:rPr lang="en-US" b="1" dirty="0"/>
              <a:t>car</a:t>
            </a:r>
            <a:r>
              <a:rPr lang="en-US" dirty="0"/>
              <a:t>, a </a:t>
            </a:r>
            <a:r>
              <a:rPr lang="en-US" b="1" dirty="0"/>
              <a:t>person</a:t>
            </a:r>
            <a:r>
              <a:rPr lang="en-US" dirty="0"/>
              <a:t>, or a </a:t>
            </a:r>
            <a:r>
              <a:rPr lang="en-US" b="1" dirty="0"/>
              <a:t>book</a:t>
            </a:r>
            <a:r>
              <a:rPr lang="en-US" dirty="0"/>
              <a:t>.</a:t>
            </a:r>
          </a:p>
          <a:p>
            <a:pPr>
              <a:buNone/>
            </a:pPr>
            <a:r>
              <a:rPr lang="en-US" dirty="0"/>
              <a:t>Each object has:</a:t>
            </a:r>
          </a:p>
          <a:p>
            <a:pPr>
              <a:buFont typeface="Arial" panose="020B0604020202020204" pitchFamily="34" charset="0"/>
              <a:buChar char="•"/>
            </a:pPr>
            <a:r>
              <a:rPr lang="en-US" b="1" dirty="0"/>
              <a:t>Properties</a:t>
            </a:r>
            <a:r>
              <a:rPr lang="en-US" dirty="0"/>
              <a:t> (called </a:t>
            </a:r>
            <a:r>
              <a:rPr lang="en-US" b="1" dirty="0"/>
              <a:t>attributes</a:t>
            </a:r>
            <a:r>
              <a:rPr lang="en-US" dirty="0"/>
              <a:t>)</a:t>
            </a:r>
          </a:p>
          <a:p>
            <a:pPr>
              <a:buFont typeface="Arial" panose="020B0604020202020204" pitchFamily="34" charset="0"/>
              <a:buChar char="•"/>
            </a:pPr>
            <a:r>
              <a:rPr lang="en-US" b="1" dirty="0"/>
              <a:t>Things it can do</a:t>
            </a:r>
            <a:r>
              <a:rPr lang="en-US" dirty="0"/>
              <a:t> (called </a:t>
            </a:r>
            <a:r>
              <a:rPr lang="en-US" b="1" dirty="0"/>
              <a:t>methods</a:t>
            </a:r>
            <a:r>
              <a:rPr lang="en-US" dirty="0"/>
              <a:t> or </a:t>
            </a:r>
            <a:r>
              <a:rPr lang="en-US" b="1" dirty="0"/>
              <a:t>actions</a:t>
            </a:r>
            <a:r>
              <a:rPr lang="en-US" dirty="0"/>
              <a:t>)</a:t>
            </a:r>
          </a:p>
          <a:p>
            <a:pPr>
              <a:buFont typeface="Arial" panose="020B0604020202020204" pitchFamily="34" charset="0"/>
              <a:buChar char="•"/>
            </a:pPr>
            <a:endParaRPr lang="en-US" dirty="0"/>
          </a:p>
          <a:p>
            <a:pPr>
              <a:buNone/>
            </a:pPr>
            <a:r>
              <a:rPr lang="en-US" b="1" dirty="0"/>
              <a:t>Example: A Car as an Object</a:t>
            </a:r>
          </a:p>
          <a:p>
            <a:pPr>
              <a:buNone/>
            </a:pPr>
            <a:r>
              <a:rPr lang="en-US" b="1" dirty="0"/>
              <a:t>Car Object</a:t>
            </a:r>
            <a:endParaRPr lang="en-US" dirty="0"/>
          </a:p>
          <a:p>
            <a:pPr>
              <a:buFont typeface="Arial" panose="020B0604020202020204" pitchFamily="34" charset="0"/>
              <a:buChar char="•"/>
            </a:pPr>
            <a:r>
              <a:rPr lang="en-US" dirty="0"/>
              <a:t>Attributes:</a:t>
            </a:r>
          </a:p>
          <a:p>
            <a:pPr marL="742950" lvl="1" indent="-285750">
              <a:buFont typeface="Arial" panose="020B0604020202020204" pitchFamily="34" charset="0"/>
              <a:buChar char="•"/>
            </a:pPr>
            <a:r>
              <a:rPr lang="en-US" dirty="0"/>
              <a:t>color = red</a:t>
            </a:r>
          </a:p>
          <a:p>
            <a:pPr marL="742950" lvl="1" indent="-285750">
              <a:buFont typeface="Arial" panose="020B0604020202020204" pitchFamily="34" charset="0"/>
              <a:buChar char="•"/>
            </a:pPr>
            <a:r>
              <a:rPr lang="en-US" dirty="0"/>
              <a:t>speed = 120 km/h</a:t>
            </a:r>
          </a:p>
          <a:p>
            <a:pPr marL="742950" lvl="1" indent="-285750">
              <a:buFont typeface="Arial" panose="020B0604020202020204" pitchFamily="34" charset="0"/>
              <a:buChar char="•"/>
            </a:pPr>
            <a:r>
              <a:rPr lang="en-US" dirty="0"/>
              <a:t>brand = Toyota</a:t>
            </a:r>
          </a:p>
          <a:p>
            <a:pPr>
              <a:buFont typeface="Arial" panose="020B0604020202020204" pitchFamily="34" charset="0"/>
              <a:buChar char="•"/>
            </a:pPr>
            <a:r>
              <a:rPr lang="en-US" dirty="0"/>
              <a:t>Actions:</a:t>
            </a:r>
          </a:p>
          <a:p>
            <a:pPr marL="742950" lvl="1" indent="-285750">
              <a:buFont typeface="Arial" panose="020B0604020202020204" pitchFamily="34" charset="0"/>
              <a:buChar char="•"/>
            </a:pPr>
            <a:r>
              <a:rPr lang="en-US" dirty="0"/>
              <a:t>drive()</a:t>
            </a:r>
          </a:p>
          <a:p>
            <a:pPr marL="742950" lvl="1" indent="-285750">
              <a:buFont typeface="Arial" panose="020B0604020202020204" pitchFamily="34" charset="0"/>
              <a:buChar char="•"/>
            </a:pPr>
            <a:r>
              <a:rPr lang="en-US" dirty="0"/>
              <a:t>stop()</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980414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1BA0D-CD2B-CCF2-7BDD-3BF2103EB38D}"/>
              </a:ext>
            </a:extLst>
          </p:cNvPr>
          <p:cNvSpPr>
            <a:spLocks noGrp="1"/>
          </p:cNvSpPr>
          <p:nvPr>
            <p:ph type="title"/>
          </p:nvPr>
        </p:nvSpPr>
        <p:spPr/>
        <p:txBody>
          <a:bodyPr/>
          <a:lstStyle/>
          <a:p>
            <a:r>
              <a:rPr lang="en-US" dirty="0"/>
              <a:t>What are </a:t>
            </a:r>
            <a:r>
              <a:rPr lang="en-US" b="1" dirty="0"/>
              <a:t>Frames</a:t>
            </a:r>
            <a:r>
              <a:rPr lang="en-US" dirty="0"/>
              <a:t> in AI?</a:t>
            </a:r>
          </a:p>
        </p:txBody>
      </p:sp>
      <p:sp>
        <p:nvSpPr>
          <p:cNvPr id="3" name="Content Placeholder 2">
            <a:extLst>
              <a:ext uri="{FF2B5EF4-FFF2-40B4-BE49-F238E27FC236}">
                <a16:creationId xmlns:a16="http://schemas.microsoft.com/office/drawing/2014/main" id="{AD00AF91-A56F-6F35-E85E-73DAC5D200FD}"/>
              </a:ext>
            </a:extLst>
          </p:cNvPr>
          <p:cNvSpPr>
            <a:spLocks noGrp="1"/>
          </p:cNvSpPr>
          <p:nvPr>
            <p:ph idx="1"/>
          </p:nvPr>
        </p:nvSpPr>
        <p:spPr/>
        <p:txBody>
          <a:bodyPr/>
          <a:lstStyle/>
          <a:p>
            <a:pPr>
              <a:buNone/>
            </a:pPr>
            <a:r>
              <a:rPr lang="en-US" dirty="0"/>
              <a:t>A </a:t>
            </a:r>
            <a:r>
              <a:rPr lang="en-US" b="1" dirty="0"/>
              <a:t>frame</a:t>
            </a:r>
            <a:r>
              <a:rPr lang="en-US" dirty="0"/>
              <a:t> is a </a:t>
            </a:r>
            <a:r>
              <a:rPr lang="en-US" b="1" dirty="0"/>
              <a:t>template or structure</a:t>
            </a:r>
            <a:r>
              <a:rPr lang="en-US" dirty="0"/>
              <a:t> that describes a </a:t>
            </a:r>
            <a:r>
              <a:rPr lang="en-US" b="1" dirty="0"/>
              <a:t>common situation</a:t>
            </a:r>
            <a:r>
              <a:rPr lang="en-US" dirty="0"/>
              <a:t> or </a:t>
            </a:r>
            <a:r>
              <a:rPr lang="en-US" b="1" dirty="0"/>
              <a:t>type of thing</a:t>
            </a:r>
            <a:r>
              <a:rPr lang="en-US" dirty="0"/>
              <a:t>.</a:t>
            </a:r>
          </a:p>
          <a:p>
            <a:pPr marL="0" indent="0">
              <a:buNone/>
            </a:pPr>
            <a:r>
              <a:rPr lang="en-US" dirty="0"/>
              <a:t>It helps the computer </a:t>
            </a:r>
            <a:r>
              <a:rPr lang="en-US" b="1" dirty="0"/>
              <a:t>organize knowledge</a:t>
            </a:r>
            <a:r>
              <a:rPr lang="en-US" dirty="0"/>
              <a:t> about something in the real world.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0851452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35C53-9DEC-DB35-456E-C18645287029}"/>
              </a:ext>
            </a:extLst>
          </p:cNvPr>
          <p:cNvSpPr>
            <a:spLocks noGrp="1"/>
          </p:cNvSpPr>
          <p:nvPr>
            <p:ph type="title"/>
          </p:nvPr>
        </p:nvSpPr>
        <p:spPr/>
        <p:txBody>
          <a:bodyPr/>
          <a:lstStyle/>
          <a:p>
            <a:r>
              <a:rPr lang="en-US" dirty="0"/>
              <a:t>Example: A Restaurant Frame</a:t>
            </a:r>
          </a:p>
        </p:txBody>
      </p:sp>
      <p:sp>
        <p:nvSpPr>
          <p:cNvPr id="3" name="Content Placeholder 2">
            <a:extLst>
              <a:ext uri="{FF2B5EF4-FFF2-40B4-BE49-F238E27FC236}">
                <a16:creationId xmlns:a16="http://schemas.microsoft.com/office/drawing/2014/main" id="{6DE5BD99-EE9F-0226-9971-33A9007D4C3C}"/>
              </a:ext>
            </a:extLst>
          </p:cNvPr>
          <p:cNvSpPr>
            <a:spLocks noGrp="1"/>
          </p:cNvSpPr>
          <p:nvPr>
            <p:ph idx="1"/>
          </p:nvPr>
        </p:nvSpPr>
        <p:spPr/>
        <p:txBody>
          <a:bodyPr>
            <a:normAutofit fontScale="70000" lnSpcReduction="20000"/>
          </a:bodyPr>
          <a:lstStyle/>
          <a:p>
            <a:pPr>
              <a:buNone/>
            </a:pPr>
            <a:r>
              <a:rPr lang="en-US" dirty="0"/>
              <a:t>Imagine the computer needs to understand how restaurants work.</a:t>
            </a:r>
          </a:p>
          <a:p>
            <a:r>
              <a:rPr lang="en-US" dirty="0"/>
              <a:t>The </a:t>
            </a:r>
            <a:r>
              <a:rPr lang="en-US" b="1" dirty="0"/>
              <a:t>Restaurant Frame</a:t>
            </a:r>
            <a:r>
              <a:rPr lang="en-US" dirty="0"/>
              <a:t> might look like this:</a:t>
            </a:r>
          </a:p>
          <a:p>
            <a:pPr marL="0" indent="0">
              <a:buNone/>
            </a:pPr>
            <a:endParaRPr lang="en-US" dirty="0"/>
          </a:p>
          <a:p>
            <a:pPr marL="0" indent="0">
              <a:buNone/>
            </a:pPr>
            <a:r>
              <a:rPr lang="en-US" dirty="0"/>
              <a:t>Frame: Restaurant Visit</a:t>
            </a:r>
          </a:p>
          <a:p>
            <a:pPr marL="0" indent="0">
              <a:buNone/>
            </a:pPr>
            <a:endParaRPr lang="en-US" dirty="0"/>
          </a:p>
          <a:p>
            <a:pPr marL="0" indent="0">
              <a:buNone/>
            </a:pPr>
            <a:r>
              <a:rPr lang="en-US" dirty="0"/>
              <a:t>Slots:</a:t>
            </a:r>
          </a:p>
          <a:p>
            <a:pPr marL="914400" lvl="2" indent="0">
              <a:buNone/>
            </a:pPr>
            <a:r>
              <a:rPr lang="en-US" dirty="0"/>
              <a:t>- Who: Customer</a:t>
            </a:r>
          </a:p>
          <a:p>
            <a:pPr marL="914400" lvl="2" indent="0">
              <a:buNone/>
            </a:pPr>
            <a:r>
              <a:rPr lang="en-US" dirty="0"/>
              <a:t>- Where: Restaurant</a:t>
            </a:r>
          </a:p>
          <a:p>
            <a:pPr marL="0" indent="0">
              <a:buNone/>
            </a:pPr>
            <a:r>
              <a:rPr lang="en-US" dirty="0"/>
              <a:t>	- Do:</a:t>
            </a:r>
          </a:p>
          <a:p>
            <a:pPr marL="1371600" lvl="3" indent="0">
              <a:buNone/>
            </a:pPr>
            <a:r>
              <a:rPr lang="en-US" dirty="0"/>
              <a:t>   1. Enter</a:t>
            </a:r>
          </a:p>
          <a:p>
            <a:pPr marL="1371600" lvl="3" indent="0">
              <a:buNone/>
            </a:pPr>
            <a:r>
              <a:rPr lang="en-US" dirty="0"/>
              <a:t>   2. Order</a:t>
            </a:r>
          </a:p>
          <a:p>
            <a:pPr marL="1371600" lvl="3" indent="0">
              <a:buNone/>
            </a:pPr>
            <a:r>
              <a:rPr lang="en-US" dirty="0"/>
              <a:t>   3. Eat</a:t>
            </a:r>
          </a:p>
          <a:p>
            <a:pPr marL="1371600" lvl="3" indent="0">
              <a:buNone/>
            </a:pPr>
            <a:r>
              <a:rPr lang="en-US" dirty="0"/>
              <a:t>   4. Pay</a:t>
            </a:r>
          </a:p>
          <a:p>
            <a:pPr marL="1371600" lvl="3" indent="0">
              <a:buNone/>
            </a:pPr>
            <a:r>
              <a:rPr lang="en-US" dirty="0"/>
              <a:t>   5. Leave</a:t>
            </a:r>
          </a:p>
          <a:p>
            <a:pPr marL="0" indent="0">
              <a:buNone/>
            </a:pPr>
            <a:r>
              <a:rPr lang="en-US" dirty="0"/>
              <a:t>	- Why: Hunger</a:t>
            </a:r>
          </a:p>
        </p:txBody>
      </p:sp>
    </p:spTree>
    <p:extLst>
      <p:ext uri="{BB962C8B-B14F-4D97-AF65-F5344CB8AC3E}">
        <p14:creationId xmlns:p14="http://schemas.microsoft.com/office/powerpoint/2010/main" val="1016970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B54E0B0-DBF3-BE3D-2448-5A5E921E823E}"/>
              </a:ext>
            </a:extLst>
          </p:cNvPr>
          <p:cNvSpPr txBox="1">
            <a:spLocks/>
          </p:cNvSpPr>
          <p:nvPr/>
        </p:nvSpPr>
        <p:spPr>
          <a:xfrm>
            <a:off x="838200" y="248784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Scripts and Conceptual Dependency</a:t>
            </a:r>
          </a:p>
        </p:txBody>
      </p:sp>
    </p:spTree>
    <p:extLst>
      <p:ext uri="{BB962C8B-B14F-4D97-AF65-F5344CB8AC3E}">
        <p14:creationId xmlns:p14="http://schemas.microsoft.com/office/powerpoint/2010/main" val="376048799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368D9-7DED-230B-FCBB-345415F129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060B6B-C2B8-2F2B-5CC5-D4AEDF31BB33}"/>
              </a:ext>
            </a:extLst>
          </p:cNvPr>
          <p:cNvSpPr>
            <a:spLocks noGrp="1"/>
          </p:cNvSpPr>
          <p:nvPr>
            <p:ph idx="1"/>
          </p:nvPr>
        </p:nvSpPr>
        <p:spPr/>
        <p:txBody>
          <a:bodyPr/>
          <a:lstStyle/>
          <a:p>
            <a:pPr marL="0" indent="0">
              <a:lnSpc>
                <a:spcPct val="150000"/>
              </a:lnSpc>
              <a:buNone/>
            </a:pPr>
            <a:r>
              <a:rPr lang="en-US" dirty="0"/>
              <a:t>In AI, </a:t>
            </a:r>
            <a:r>
              <a:rPr lang="en-US" b="1" dirty="0"/>
              <a:t>Scripts</a:t>
            </a:r>
            <a:r>
              <a:rPr lang="en-US" dirty="0"/>
              <a:t> and </a:t>
            </a:r>
            <a:r>
              <a:rPr lang="en-US" b="1" dirty="0"/>
              <a:t>Conceptual Dependency (CD)</a:t>
            </a:r>
            <a:r>
              <a:rPr lang="en-US" dirty="0"/>
              <a:t> are both </a:t>
            </a:r>
            <a:r>
              <a:rPr lang="en-US" b="1" dirty="0"/>
              <a:t>knowledge representation methods</a:t>
            </a:r>
            <a:r>
              <a:rPr lang="en-US" dirty="0"/>
              <a:t>, especially useful in </a:t>
            </a:r>
            <a:r>
              <a:rPr lang="en-US" b="1" dirty="0"/>
              <a:t>Natural Language Understanding (NLU)</a:t>
            </a:r>
            <a:r>
              <a:rPr lang="en-US" dirty="0"/>
              <a:t>. They were developed to help machines understand not just words, but </a:t>
            </a:r>
            <a:r>
              <a:rPr lang="en-US" b="1" dirty="0"/>
              <a:t>meaning, context, and typical sequences of events</a:t>
            </a:r>
            <a:r>
              <a:rPr lang="en-US" dirty="0"/>
              <a:t>.</a:t>
            </a:r>
          </a:p>
          <a:p>
            <a:pPr marL="0" indent="0">
              <a:buNone/>
            </a:pPr>
            <a:endParaRPr lang="en-US" dirty="0"/>
          </a:p>
        </p:txBody>
      </p:sp>
    </p:spTree>
    <p:extLst>
      <p:ext uri="{BB962C8B-B14F-4D97-AF65-F5344CB8AC3E}">
        <p14:creationId xmlns:p14="http://schemas.microsoft.com/office/powerpoint/2010/main" val="31392262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F7DDC-5C21-7458-902F-5A817A574809}"/>
              </a:ext>
            </a:extLst>
          </p:cNvPr>
          <p:cNvSpPr>
            <a:spLocks noGrp="1"/>
          </p:cNvSpPr>
          <p:nvPr>
            <p:ph type="title"/>
          </p:nvPr>
        </p:nvSpPr>
        <p:spPr/>
        <p:txBody>
          <a:bodyPr/>
          <a:lstStyle/>
          <a:p>
            <a:r>
              <a:rPr lang="en-US" b="1" dirty="0"/>
              <a:t>Scripts in AI</a:t>
            </a:r>
            <a:endParaRPr lang="en-US" dirty="0"/>
          </a:p>
        </p:txBody>
      </p:sp>
      <p:sp>
        <p:nvSpPr>
          <p:cNvPr id="3" name="Content Placeholder 2">
            <a:extLst>
              <a:ext uri="{FF2B5EF4-FFF2-40B4-BE49-F238E27FC236}">
                <a16:creationId xmlns:a16="http://schemas.microsoft.com/office/drawing/2014/main" id="{B447B1A6-EF18-1FE6-2559-02706D9C6E76}"/>
              </a:ext>
            </a:extLst>
          </p:cNvPr>
          <p:cNvSpPr>
            <a:spLocks noGrp="1"/>
          </p:cNvSpPr>
          <p:nvPr>
            <p:ph idx="1"/>
          </p:nvPr>
        </p:nvSpPr>
        <p:spPr>
          <a:xfrm>
            <a:off x="781050" y="1499053"/>
            <a:ext cx="10515600" cy="4351338"/>
          </a:xfrm>
        </p:spPr>
        <p:txBody>
          <a:bodyPr>
            <a:normAutofit fontScale="70000" lnSpcReduction="20000"/>
          </a:bodyPr>
          <a:lstStyle/>
          <a:p>
            <a:pPr marL="0" indent="0">
              <a:buNone/>
            </a:pPr>
            <a:r>
              <a:rPr lang="en-US" dirty="0"/>
              <a:t>Scripts are used to represent </a:t>
            </a:r>
            <a:r>
              <a:rPr lang="en-US" b="1" dirty="0"/>
              <a:t>stereotypical sequences of events</a:t>
            </a:r>
            <a:r>
              <a:rPr lang="en-US" dirty="0"/>
              <a:t> in specific contexts.</a:t>
            </a:r>
          </a:p>
          <a:p>
            <a:pPr marL="0" indent="0">
              <a:buNone/>
            </a:pPr>
            <a:endParaRPr lang="en-US" sz="1000" dirty="0"/>
          </a:p>
          <a:p>
            <a:pPr marL="0" indent="0">
              <a:buNone/>
            </a:pPr>
            <a:r>
              <a:rPr lang="en-US" sz="1400" i="1" dirty="0"/>
              <a:t>A </a:t>
            </a:r>
            <a:r>
              <a:rPr lang="en-US" sz="1400" b="1" i="1" dirty="0"/>
              <a:t>stereotypical sequence of events</a:t>
            </a:r>
            <a:r>
              <a:rPr lang="en-US" sz="1400" i="1" dirty="0"/>
              <a:t> is a </a:t>
            </a:r>
            <a:r>
              <a:rPr lang="en-US" sz="1400" b="1" i="1" dirty="0"/>
              <a:t>common routine</a:t>
            </a:r>
            <a:r>
              <a:rPr lang="en-US" sz="1400" i="1" dirty="0"/>
              <a:t> — something that usually happens the </a:t>
            </a:r>
            <a:r>
              <a:rPr lang="en-US" sz="1400" b="1" i="1" dirty="0"/>
              <a:t>same way</a:t>
            </a:r>
            <a:r>
              <a:rPr lang="en-US" sz="1400" i="1" dirty="0"/>
              <a:t> every time.</a:t>
            </a:r>
          </a:p>
          <a:p>
            <a:pPr marL="0" indent="0">
              <a:lnSpc>
                <a:spcPct val="150000"/>
              </a:lnSpc>
              <a:buNone/>
            </a:pPr>
            <a:r>
              <a:rPr lang="en-US" dirty="0"/>
              <a:t>A script is a structured representation of a routine situation, such as eating at a restaurant, going to the doctor, or attending class.</a:t>
            </a:r>
          </a:p>
          <a:p>
            <a:pPr marL="0" indent="0">
              <a:lnSpc>
                <a:spcPct val="150000"/>
              </a:lnSpc>
              <a:buNone/>
            </a:pPr>
            <a:endParaRPr lang="en-US" dirty="0"/>
          </a:p>
          <a:p>
            <a:pPr>
              <a:buNone/>
            </a:pPr>
            <a:r>
              <a:rPr lang="en-US" dirty="0"/>
              <a:t>It includes:</a:t>
            </a:r>
          </a:p>
          <a:p>
            <a:pPr>
              <a:buFont typeface="Arial" panose="020B0604020202020204" pitchFamily="34" charset="0"/>
              <a:buChar char="•"/>
            </a:pPr>
            <a:r>
              <a:rPr lang="en-US" b="1" dirty="0"/>
              <a:t>Entry conditions</a:t>
            </a:r>
            <a:r>
              <a:rPr lang="en-US" dirty="0"/>
              <a:t> (what must be true before the script starts)</a:t>
            </a:r>
          </a:p>
          <a:p>
            <a:pPr>
              <a:buFont typeface="Arial" panose="020B0604020202020204" pitchFamily="34" charset="0"/>
              <a:buChar char="•"/>
            </a:pPr>
            <a:r>
              <a:rPr lang="en-US" b="1" dirty="0"/>
              <a:t>Roles</a:t>
            </a:r>
            <a:r>
              <a:rPr lang="en-US" dirty="0"/>
              <a:t> (characters involved)</a:t>
            </a:r>
          </a:p>
          <a:p>
            <a:pPr>
              <a:buFont typeface="Arial" panose="020B0604020202020204" pitchFamily="34" charset="0"/>
              <a:buChar char="•"/>
            </a:pPr>
            <a:r>
              <a:rPr lang="en-US" b="1" dirty="0"/>
              <a:t>Props</a:t>
            </a:r>
            <a:r>
              <a:rPr lang="en-US" dirty="0"/>
              <a:t> (objects used)</a:t>
            </a:r>
          </a:p>
          <a:p>
            <a:pPr>
              <a:buFont typeface="Arial" panose="020B0604020202020204" pitchFamily="34" charset="0"/>
              <a:buChar char="•"/>
            </a:pPr>
            <a:r>
              <a:rPr lang="en-US" b="1" dirty="0"/>
              <a:t>Scenes</a:t>
            </a:r>
            <a:r>
              <a:rPr lang="en-US" dirty="0"/>
              <a:t> (ordered steps or sub-events)</a:t>
            </a:r>
          </a:p>
          <a:p>
            <a:pPr>
              <a:buFont typeface="Arial" panose="020B0604020202020204" pitchFamily="34" charset="0"/>
              <a:buChar char="•"/>
            </a:pPr>
            <a:r>
              <a:rPr lang="en-US" b="1" dirty="0"/>
              <a:t>Results</a:t>
            </a:r>
            <a:r>
              <a:rPr lang="en-US" dirty="0"/>
              <a:t> (end outcomes)</a:t>
            </a:r>
          </a:p>
          <a:p>
            <a:pPr marL="0" indent="0">
              <a:lnSpc>
                <a:spcPct val="150000"/>
              </a:lnSpc>
              <a:buNone/>
            </a:pPr>
            <a:endParaRPr lang="en-US" dirty="0"/>
          </a:p>
        </p:txBody>
      </p:sp>
    </p:spTree>
    <p:extLst>
      <p:ext uri="{BB962C8B-B14F-4D97-AF65-F5344CB8AC3E}">
        <p14:creationId xmlns:p14="http://schemas.microsoft.com/office/powerpoint/2010/main" val="3473419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8931BC6-E80F-E6C4-4533-1E47171F76F5}"/>
              </a:ext>
            </a:extLst>
          </p:cNvPr>
          <p:cNvPicPr>
            <a:picLocks noChangeAspect="1"/>
          </p:cNvPicPr>
          <p:nvPr/>
        </p:nvPicPr>
        <p:blipFill>
          <a:blip r:embed="rId2"/>
          <a:stretch>
            <a:fillRect/>
          </a:stretch>
        </p:blipFill>
        <p:spPr>
          <a:xfrm>
            <a:off x="1087891" y="152400"/>
            <a:ext cx="4105275" cy="6553200"/>
          </a:xfrm>
          <a:prstGeom prst="rect">
            <a:avLst/>
          </a:prstGeom>
        </p:spPr>
      </p:pic>
    </p:spTree>
    <p:extLst>
      <p:ext uri="{BB962C8B-B14F-4D97-AF65-F5344CB8AC3E}">
        <p14:creationId xmlns:p14="http://schemas.microsoft.com/office/powerpoint/2010/main" val="98454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77F3CC1-BB3B-25D8-7B9E-966438CF2BCE}"/>
              </a:ext>
            </a:extLst>
          </p:cNvPr>
          <p:cNvSpPr txBox="1">
            <a:spLocks/>
          </p:cNvSpPr>
          <p:nvPr/>
        </p:nvSpPr>
        <p:spPr>
          <a:xfrm>
            <a:off x="838200" y="248784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Conceptual Dependency</a:t>
            </a:r>
          </a:p>
        </p:txBody>
      </p:sp>
    </p:spTree>
    <p:extLst>
      <p:ext uri="{BB962C8B-B14F-4D97-AF65-F5344CB8AC3E}">
        <p14:creationId xmlns:p14="http://schemas.microsoft.com/office/powerpoint/2010/main" val="3986863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FC64E-2C83-CC54-3AF9-CE77716F18DD}"/>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3E749D2E-70ED-F9AD-64F6-DD2F36C07090}"/>
              </a:ext>
            </a:extLst>
          </p:cNvPr>
          <p:cNvSpPr>
            <a:spLocks noGrp="1"/>
          </p:cNvSpPr>
          <p:nvPr>
            <p:ph idx="1"/>
          </p:nvPr>
        </p:nvSpPr>
        <p:spPr/>
        <p:txBody>
          <a:bodyPr>
            <a:normAutofit fontScale="77500" lnSpcReduction="20000"/>
          </a:bodyPr>
          <a:lstStyle/>
          <a:p>
            <a:pPr marL="0" indent="0">
              <a:lnSpc>
                <a:spcPct val="150000"/>
              </a:lnSpc>
              <a:buNone/>
            </a:pPr>
            <a:r>
              <a:rPr lang="en-US" dirty="0"/>
              <a:t>Developed by </a:t>
            </a:r>
            <a:r>
              <a:rPr lang="en-US" b="1" dirty="0"/>
              <a:t>Roger Schank</a:t>
            </a:r>
            <a:r>
              <a:rPr lang="en-US" dirty="0"/>
              <a:t> in the early 1970s for </a:t>
            </a:r>
            <a:r>
              <a:rPr lang="en-US" b="1" dirty="0"/>
              <a:t>natural language understanding</a:t>
            </a:r>
            <a:r>
              <a:rPr lang="en-US" dirty="0"/>
              <a:t>, CD theory aims to represent the </a:t>
            </a:r>
            <a:r>
              <a:rPr lang="en-US" b="1" dirty="0"/>
              <a:t>underlying meaning</a:t>
            </a:r>
            <a:r>
              <a:rPr lang="en-US" dirty="0"/>
              <a:t> of a sentence using </a:t>
            </a:r>
            <a:r>
              <a:rPr lang="en-US" b="1" dirty="0"/>
              <a:t>primitive actions</a:t>
            </a:r>
            <a:r>
              <a:rPr lang="en-US" dirty="0"/>
              <a:t>.</a:t>
            </a:r>
          </a:p>
          <a:p>
            <a:pPr marL="0" indent="0">
              <a:lnSpc>
                <a:spcPct val="150000"/>
              </a:lnSpc>
              <a:buNone/>
            </a:pPr>
            <a:endParaRPr lang="en-US" dirty="0"/>
          </a:p>
          <a:p>
            <a:pPr>
              <a:buNone/>
            </a:pPr>
            <a:r>
              <a:rPr lang="en-US" b="1" dirty="0"/>
              <a:t>CD Primitives</a:t>
            </a:r>
          </a:p>
          <a:p>
            <a:pPr>
              <a:buFont typeface="Arial" panose="020B0604020202020204" pitchFamily="34" charset="0"/>
              <a:buChar char="•"/>
            </a:pPr>
            <a:r>
              <a:rPr lang="en-US" b="1" dirty="0"/>
              <a:t>PTRANS</a:t>
            </a:r>
            <a:r>
              <a:rPr lang="en-US" dirty="0"/>
              <a:t> – Physical transfer (e.g., go, move)</a:t>
            </a:r>
          </a:p>
          <a:p>
            <a:pPr>
              <a:buFont typeface="Arial" panose="020B0604020202020204" pitchFamily="34" charset="0"/>
              <a:buChar char="•"/>
            </a:pPr>
            <a:r>
              <a:rPr lang="en-US" b="1" dirty="0"/>
              <a:t>ATRANS</a:t>
            </a:r>
            <a:r>
              <a:rPr lang="en-US" dirty="0"/>
              <a:t> – Abstract transfer (e.g., give, receive)</a:t>
            </a:r>
          </a:p>
          <a:p>
            <a:pPr>
              <a:buFont typeface="Arial" panose="020B0604020202020204" pitchFamily="34" charset="0"/>
              <a:buChar char="•"/>
            </a:pPr>
            <a:r>
              <a:rPr lang="en-US" b="1" dirty="0"/>
              <a:t>MTRANS</a:t>
            </a:r>
            <a:r>
              <a:rPr lang="en-US" dirty="0"/>
              <a:t> – Mental transfer (e.g., inform, believe)</a:t>
            </a:r>
          </a:p>
          <a:p>
            <a:pPr>
              <a:buFont typeface="Arial" panose="020B0604020202020204" pitchFamily="34" charset="0"/>
              <a:buChar char="•"/>
            </a:pPr>
            <a:r>
              <a:rPr lang="en-US" b="1" dirty="0"/>
              <a:t>PROPEL</a:t>
            </a:r>
            <a:r>
              <a:rPr lang="en-US" dirty="0"/>
              <a:t> – Apply force (e.g., push)</a:t>
            </a:r>
          </a:p>
          <a:p>
            <a:pPr>
              <a:buFont typeface="Arial" panose="020B0604020202020204" pitchFamily="34" charset="0"/>
              <a:buChar char="•"/>
            </a:pPr>
            <a:r>
              <a:rPr lang="en-US" b="1" dirty="0"/>
              <a:t>INGEST</a:t>
            </a:r>
            <a:r>
              <a:rPr lang="en-US" dirty="0"/>
              <a:t> – Eat or drink</a:t>
            </a:r>
          </a:p>
          <a:p>
            <a:pPr marL="0" indent="0">
              <a:lnSpc>
                <a:spcPct val="150000"/>
              </a:lnSpc>
              <a:buNone/>
            </a:pPr>
            <a:endParaRPr lang="en-US" dirty="0"/>
          </a:p>
        </p:txBody>
      </p:sp>
    </p:spTree>
    <p:extLst>
      <p:ext uri="{BB962C8B-B14F-4D97-AF65-F5344CB8AC3E}">
        <p14:creationId xmlns:p14="http://schemas.microsoft.com/office/powerpoint/2010/main" val="3522277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04B24-FFB2-7CD8-5F86-8836831FF8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893640-5AD3-1D17-103C-16363F3B088F}"/>
              </a:ext>
            </a:extLst>
          </p:cNvPr>
          <p:cNvSpPr>
            <a:spLocks noGrp="1"/>
          </p:cNvSpPr>
          <p:nvPr>
            <p:ph idx="1"/>
          </p:nvPr>
        </p:nvSpPr>
        <p:spPr/>
        <p:txBody>
          <a:bodyPr>
            <a:normAutofit lnSpcReduction="10000"/>
          </a:bodyPr>
          <a:lstStyle/>
          <a:p>
            <a:pPr>
              <a:buNone/>
            </a:pPr>
            <a:r>
              <a:rPr lang="en-US" b="1" dirty="0"/>
              <a:t>Example:</a:t>
            </a:r>
          </a:p>
          <a:p>
            <a:r>
              <a:rPr lang="en-US" dirty="0"/>
              <a:t>Sentence: "Ali gave a book to Sara.“</a:t>
            </a:r>
          </a:p>
          <a:p>
            <a:endParaRPr lang="en-US" dirty="0"/>
          </a:p>
          <a:p>
            <a:pPr marL="0" indent="0">
              <a:buNone/>
            </a:pPr>
            <a:r>
              <a:rPr lang="en-US" b="1" dirty="0"/>
              <a:t>CD Representation:</a:t>
            </a:r>
          </a:p>
          <a:p>
            <a:pPr marL="0" indent="0">
              <a:buNone/>
            </a:pPr>
            <a:r>
              <a:rPr lang="en-US" dirty="0"/>
              <a:t>Action: ATRANS</a:t>
            </a:r>
          </a:p>
          <a:p>
            <a:pPr marL="0" indent="0">
              <a:buNone/>
            </a:pPr>
            <a:r>
              <a:rPr lang="en-US" dirty="0"/>
              <a:t>Actor: Ali</a:t>
            </a:r>
          </a:p>
          <a:p>
            <a:pPr marL="0" indent="0">
              <a:buNone/>
            </a:pPr>
            <a:r>
              <a:rPr lang="en-US" dirty="0"/>
              <a:t>Object: Book</a:t>
            </a:r>
          </a:p>
          <a:p>
            <a:pPr marL="0" indent="0">
              <a:buNone/>
            </a:pPr>
            <a:r>
              <a:rPr lang="en-US" dirty="0"/>
              <a:t>From: Ali</a:t>
            </a:r>
          </a:p>
          <a:p>
            <a:pPr marL="0" indent="0">
              <a:buNone/>
            </a:pPr>
            <a:r>
              <a:rPr lang="en-US" dirty="0"/>
              <a:t>To: Sara</a:t>
            </a:r>
          </a:p>
        </p:txBody>
      </p:sp>
    </p:spTree>
    <p:extLst>
      <p:ext uri="{BB962C8B-B14F-4D97-AF65-F5344CB8AC3E}">
        <p14:creationId xmlns:p14="http://schemas.microsoft.com/office/powerpoint/2010/main" val="21377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34BE8-F80D-4625-F4D3-C3D2538E833E}"/>
              </a:ext>
            </a:extLst>
          </p:cNvPr>
          <p:cNvSpPr>
            <a:spLocks noGrp="1"/>
          </p:cNvSpPr>
          <p:nvPr>
            <p:ph type="title"/>
          </p:nvPr>
        </p:nvSpPr>
        <p:spPr/>
        <p:txBody>
          <a:bodyPr/>
          <a:lstStyle/>
          <a:p>
            <a:r>
              <a:rPr lang="en-US" dirty="0"/>
              <a:t>Relationship Between Scripts &amp; CD</a:t>
            </a:r>
          </a:p>
        </p:txBody>
      </p:sp>
      <p:sp>
        <p:nvSpPr>
          <p:cNvPr id="3" name="Content Placeholder 2">
            <a:extLst>
              <a:ext uri="{FF2B5EF4-FFF2-40B4-BE49-F238E27FC236}">
                <a16:creationId xmlns:a16="http://schemas.microsoft.com/office/drawing/2014/main" id="{EF05DD4A-8DFC-4E36-0EF8-33D3B1E6BC0E}"/>
              </a:ext>
            </a:extLst>
          </p:cNvPr>
          <p:cNvSpPr>
            <a:spLocks noGrp="1"/>
          </p:cNvSpPr>
          <p:nvPr>
            <p:ph idx="1"/>
          </p:nvPr>
        </p:nvSpPr>
        <p:spPr/>
        <p:txBody>
          <a:bodyPr/>
          <a:lstStyle/>
          <a:p>
            <a:pPr>
              <a:buNone/>
            </a:pPr>
            <a:r>
              <a:rPr lang="en-US" dirty="0"/>
              <a:t>Scripts and CD often </a:t>
            </a:r>
            <a:r>
              <a:rPr lang="en-US" b="1" dirty="0"/>
              <a:t>work together</a:t>
            </a:r>
            <a:r>
              <a:rPr lang="en-US" dirty="0"/>
              <a:t>:</a:t>
            </a:r>
          </a:p>
          <a:p>
            <a:pPr>
              <a:buFont typeface="Arial" panose="020B0604020202020204" pitchFamily="34" charset="0"/>
              <a:buChar char="•"/>
            </a:pPr>
            <a:r>
              <a:rPr lang="en-US" b="1" dirty="0"/>
              <a:t>Scripts</a:t>
            </a:r>
            <a:r>
              <a:rPr lang="en-US" dirty="0"/>
              <a:t> provide </a:t>
            </a:r>
            <a:r>
              <a:rPr lang="en-US" b="1" dirty="0"/>
              <a:t>context</a:t>
            </a:r>
            <a:r>
              <a:rPr lang="en-US" dirty="0"/>
              <a:t> and </a:t>
            </a:r>
            <a:r>
              <a:rPr lang="en-US" b="1" dirty="0"/>
              <a:t>event flow</a:t>
            </a:r>
            <a:r>
              <a:rPr lang="en-US" dirty="0"/>
              <a:t> (macro level).</a:t>
            </a:r>
          </a:p>
          <a:p>
            <a:pPr>
              <a:buFont typeface="Arial" panose="020B0604020202020204" pitchFamily="34" charset="0"/>
              <a:buChar char="•"/>
            </a:pPr>
            <a:r>
              <a:rPr lang="en-US" b="1" dirty="0"/>
              <a:t>CD</a:t>
            </a:r>
            <a:r>
              <a:rPr lang="en-US" dirty="0"/>
              <a:t> provides </a:t>
            </a:r>
            <a:r>
              <a:rPr lang="en-US" b="1" dirty="0"/>
              <a:t>meaning of individual actions</a:t>
            </a:r>
            <a:r>
              <a:rPr lang="en-US" dirty="0"/>
              <a:t> (micro level).</a:t>
            </a:r>
          </a:p>
          <a:p>
            <a:pPr marL="0" indent="0">
              <a:buNone/>
            </a:pPr>
            <a:endParaRPr lang="en-US" sz="1800" dirty="0">
              <a:latin typeface="Arial" panose="020B0604020202020204" pitchFamily="34" charset="0"/>
            </a:endParaRPr>
          </a:p>
        </p:txBody>
      </p:sp>
      <p:sp>
        <p:nvSpPr>
          <p:cNvPr id="4" name="Rectangle 1">
            <a:extLst>
              <a:ext uri="{FF2B5EF4-FFF2-40B4-BE49-F238E27FC236}">
                <a16:creationId xmlns:a16="http://schemas.microsoft.com/office/drawing/2014/main" id="{01B08FDD-88F4-277E-937D-CC8669B6E357}"/>
              </a:ext>
            </a:extLst>
          </p:cNvPr>
          <p:cNvSpPr>
            <a:spLocks noChangeArrowheads="1"/>
          </p:cNvSpPr>
          <p:nvPr/>
        </p:nvSpPr>
        <p:spPr bwMode="auto">
          <a:xfrm>
            <a:off x="838200" y="3429000"/>
            <a:ext cx="10599440" cy="290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Example:</a:t>
            </a:r>
          </a:p>
          <a:p>
            <a:pPr marL="0" marR="0" lvl="0" indent="0" algn="l" defTabSz="914400" rtl="0" eaLnBrk="0" fontAlgn="base" latinLnBrk="0" hangingPunct="0">
              <a:lnSpc>
                <a:spcPct val="150000"/>
              </a:lnSpc>
              <a:spcBef>
                <a:spcPct val="0"/>
              </a:spcBef>
              <a:spcAft>
                <a:spcPct val="0"/>
              </a:spcAft>
              <a:buClrTx/>
              <a:buSzTx/>
              <a:buFontTx/>
              <a:buNone/>
              <a:tabLst/>
            </a:pPr>
            <a:r>
              <a:rPr lang="en-US" altLang="en-US" dirty="0">
                <a:latin typeface="Arial" panose="020B0604020202020204" pitchFamily="34" charset="0"/>
              </a:rPr>
              <a:t>If someone</a:t>
            </a:r>
            <a:r>
              <a:rPr kumimoji="0" lang="en-US" altLang="en-US" sz="1800" b="0" i="0" u="none" strike="noStrike" cap="none" normalizeH="0" baseline="0" dirty="0">
                <a:ln>
                  <a:noFill/>
                </a:ln>
                <a:solidFill>
                  <a:schemeClr val="tx1"/>
                </a:solidFill>
                <a:effectLst/>
                <a:latin typeface="Arial" panose="020B0604020202020204" pitchFamily="34" charset="0"/>
              </a:rPr>
              <a:t> says:</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 went to a restaurant and left without paying."</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Using:</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Script</a:t>
            </a:r>
            <a:r>
              <a:rPr kumimoji="0" lang="en-US" altLang="en-US" sz="1800" b="0" i="0" u="none" strike="noStrike" cap="none" normalizeH="0" baseline="0" dirty="0">
                <a:ln>
                  <a:noFill/>
                </a:ln>
                <a:solidFill>
                  <a:schemeClr val="tx1"/>
                </a:solidFill>
                <a:effectLst/>
                <a:latin typeface="Arial" panose="020B0604020202020204" pitchFamily="34" charset="0"/>
              </a:rPr>
              <a:t> → AI knows that paying is normally part of a restaurant visit.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CD</a:t>
            </a:r>
            <a:r>
              <a:rPr kumimoji="0" lang="en-US" altLang="en-US" sz="1800" b="0" i="0" u="none" strike="noStrike" cap="none" normalizeH="0" baseline="0" dirty="0">
                <a:ln>
                  <a:noFill/>
                </a:ln>
                <a:solidFill>
                  <a:schemeClr val="tx1"/>
                </a:solidFill>
                <a:effectLst/>
                <a:latin typeface="Arial" panose="020B0604020202020204" pitchFamily="34" charset="0"/>
              </a:rPr>
              <a:t> → AI understands the action "left without paying" as skipping the </a:t>
            </a:r>
            <a:r>
              <a:rPr kumimoji="0" lang="en-US" altLang="en-US" sz="1000" b="0" i="0" u="none" strike="noStrike" cap="none" normalizeH="0" baseline="0" dirty="0">
                <a:ln>
                  <a:noFill/>
                </a:ln>
                <a:solidFill>
                  <a:schemeClr val="tx1"/>
                </a:solidFill>
                <a:effectLst/>
                <a:latin typeface="Arial Unicode MS"/>
              </a:rPr>
              <a:t>ATRANS</a:t>
            </a:r>
            <a:r>
              <a:rPr kumimoji="0" lang="en-US" altLang="en-US" sz="800" b="0" i="0" u="none" strike="noStrike" cap="none" normalizeH="0" baseline="0" dirty="0">
                <a:ln>
                  <a:noFill/>
                </a:ln>
                <a:solidFill>
                  <a:schemeClr val="tx1"/>
                </a:solidFill>
                <a:effectLst/>
              </a:rPr>
              <a:t> </a:t>
            </a:r>
            <a:r>
              <a:rPr kumimoji="0" lang="en-US" altLang="en-US" sz="1800" b="0" i="0" u="none" strike="noStrike" cap="none" normalizeH="0" baseline="0" dirty="0">
                <a:ln>
                  <a:noFill/>
                </a:ln>
                <a:solidFill>
                  <a:schemeClr val="tx1"/>
                </a:solidFill>
                <a:effectLst/>
                <a:latin typeface="Arial" panose="020B0604020202020204" pitchFamily="34" charset="0"/>
              </a:rPr>
              <a:t>of money to the restaurant.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So the AI can </a:t>
            </a:r>
            <a:r>
              <a:rPr kumimoji="0" lang="en-US" altLang="en-US" sz="1800" b="1" i="0" u="none" strike="noStrike" cap="none" normalizeH="0" baseline="0" dirty="0">
                <a:ln>
                  <a:noFill/>
                </a:ln>
                <a:solidFill>
                  <a:schemeClr val="tx1"/>
                </a:solidFill>
                <a:effectLst/>
                <a:latin typeface="Arial" panose="020B0604020202020204" pitchFamily="34" charset="0"/>
              </a:rPr>
              <a:t>infer an anomaly</a:t>
            </a:r>
            <a:r>
              <a:rPr kumimoji="0" lang="en-US" altLang="en-US" sz="1800" b="0" i="0" u="none" strike="noStrike" cap="none" normalizeH="0" baseline="0" dirty="0">
                <a:ln>
                  <a:noFill/>
                </a:ln>
                <a:solidFill>
                  <a:schemeClr val="tx1"/>
                </a:solidFill>
                <a:effectLst/>
                <a:latin typeface="Arial" panose="020B0604020202020204" pitchFamily="34" charset="0"/>
              </a:rPr>
              <a:t> (possibly theft or dine-and-dash behavior).</a:t>
            </a:r>
          </a:p>
        </p:txBody>
      </p:sp>
    </p:spTree>
    <p:extLst>
      <p:ext uri="{BB962C8B-B14F-4D97-AF65-F5344CB8AC3E}">
        <p14:creationId xmlns:p14="http://schemas.microsoft.com/office/powerpoint/2010/main" val="1195936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487</TotalTime>
  <Words>2311</Words>
  <Application>Microsoft Office PowerPoint</Application>
  <PresentationFormat>Widescreen</PresentationFormat>
  <Paragraphs>328</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Aptos</vt:lpstr>
      <vt:lpstr>Aptos Display</vt:lpstr>
      <vt:lpstr>Arial</vt:lpstr>
      <vt:lpstr>Arial Unicode MS</vt:lpstr>
      <vt:lpstr>Google Sans</vt:lpstr>
      <vt:lpstr>Nunito</vt:lpstr>
      <vt:lpstr>Office Theme</vt:lpstr>
      <vt:lpstr>Logic in Artificial Intelligence</vt:lpstr>
      <vt:lpstr>AI Helping You with Study Time</vt:lpstr>
      <vt:lpstr>Steps</vt:lpstr>
      <vt:lpstr>What's Happening Behind the Scenes?</vt:lpstr>
      <vt:lpstr>Visual Diagram: AI Study Reminder</vt:lpstr>
      <vt:lpstr>Propositional Logic</vt:lpstr>
      <vt:lpstr>Rule (in logic):</vt:lpstr>
      <vt:lpstr>AI Reminder Mini Project</vt:lpstr>
      <vt:lpstr>Predicate Logic</vt:lpstr>
      <vt:lpstr>Summary</vt:lpstr>
      <vt:lpstr>Knowledge Representation</vt:lpstr>
      <vt:lpstr>Ways to represent Knowledge</vt:lpstr>
      <vt:lpstr>Production System in AI</vt:lpstr>
      <vt:lpstr>What is a Production System in AI?</vt:lpstr>
      <vt:lpstr>Structure of a Production System</vt:lpstr>
      <vt:lpstr>Key Components of a Production System in AI</vt:lpstr>
      <vt:lpstr>Key Components of a Production System in AI</vt:lpstr>
      <vt:lpstr>Example: Doctor Diagnosis</vt:lpstr>
      <vt:lpstr>PowerPoint Presentation</vt:lpstr>
      <vt:lpstr>Mini Production System</vt:lpstr>
      <vt:lpstr>Production System: Strong Methods</vt:lpstr>
      <vt:lpstr>Production System: Weak Methods</vt:lpstr>
      <vt:lpstr>Key Differences</vt:lpstr>
      <vt:lpstr>Inference Methods</vt:lpstr>
      <vt:lpstr>Example:</vt:lpstr>
      <vt:lpstr>Difference between a Production System and Predicate/Propositional Logic:</vt:lpstr>
      <vt:lpstr>Example Comparison</vt:lpstr>
      <vt:lpstr>∀ Predicate Logic Example</vt:lpstr>
      <vt:lpstr>Key Differences</vt:lpstr>
      <vt:lpstr>Types of Inference Methods</vt:lpstr>
      <vt:lpstr>Forward Chaining (Data-Driven)</vt:lpstr>
      <vt:lpstr>Backward Chaining (Goal-Driven)</vt:lpstr>
      <vt:lpstr>Objects and Frames</vt:lpstr>
      <vt:lpstr>What are Objects in AI?</vt:lpstr>
      <vt:lpstr>What are Frames in AI?</vt:lpstr>
      <vt:lpstr>Example: A Restaurant Frame</vt:lpstr>
      <vt:lpstr>PowerPoint Presentation</vt:lpstr>
      <vt:lpstr>PowerPoint Presentation</vt:lpstr>
      <vt:lpstr>Scripts in AI</vt:lpstr>
      <vt:lpstr>PowerPoint Presentation</vt:lpstr>
      <vt:lpstr>PowerPoint Presentation</vt:lpstr>
      <vt:lpstr>PowerPoint Presentation</vt:lpstr>
      <vt:lpstr>PowerPoint Presentation</vt:lpstr>
      <vt:lpstr>Relationship Between Scripts &amp; CD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Yasir Ali</dc:creator>
  <cp:lastModifiedBy>Yasir Ali</cp:lastModifiedBy>
  <cp:revision>252</cp:revision>
  <dcterms:created xsi:type="dcterms:W3CDTF">2025-05-16T09:48:34Z</dcterms:created>
  <dcterms:modified xsi:type="dcterms:W3CDTF">2025-05-17T11:45:40Z</dcterms:modified>
</cp:coreProperties>
</file>